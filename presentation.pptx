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7" r:id="rId13"/>
    <p:sldId id="268" r:id="rId14"/>
    <p:sldId id="269" r:id="rId15"/>
    <p:sldId id="273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32"/>
    <a:srgbClr val="EF7575"/>
    <a:srgbClr val="FF0000"/>
    <a:srgbClr val="FFC000"/>
    <a:srgbClr val="DB4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7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871128907731509"/>
          <c:y val="8.6473983596305121E-2"/>
          <c:w val="0.41511379847278351"/>
          <c:h val="0.6454208223972003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Utilisation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915-4A29-B49E-1C6D654624FC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915-4A29-B49E-1C6D654624FC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915-4A29-B49E-1C6D654624FC}"/>
              </c:ext>
            </c:extLst>
          </c:dPt>
          <c:dPt>
            <c:idx val="3"/>
            <c:bubble3D val="0"/>
            <c:spPr>
              <a:solidFill>
                <a:schemeClr val="bg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915-4A29-B49E-1C6D654624FC}"/>
              </c:ext>
            </c:extLst>
          </c:dPt>
          <c:dPt>
            <c:idx val="4"/>
            <c:bubble3D val="0"/>
            <c:spPr>
              <a:solidFill>
                <a:srgbClr val="DB432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915-4A29-B49E-1C6D654624FC}"/>
              </c:ext>
            </c:extLst>
          </c:dPt>
          <c:dPt>
            <c:idx val="5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915-4A29-B49E-1C6D654624FC}"/>
              </c:ext>
            </c:extLst>
          </c:dPt>
          <c:dLbls>
            <c:dLbl>
              <c:idx val="5"/>
              <c:layout>
                <c:manualLayout>
                  <c:x val="0"/>
                  <c:y val="-3.80019928604129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915-4A29-B49E-1C6D654624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Nourriture humaine</c:v>
                </c:pt>
                <c:pt idx="1">
                  <c:v>Traitement industriel</c:v>
                </c:pt>
                <c:pt idx="2">
                  <c:v>Aliments animaux</c:v>
                </c:pt>
                <c:pt idx="3">
                  <c:v>Autres utilisations</c:v>
                </c:pt>
                <c:pt idx="4">
                  <c:v>Pertes</c:v>
                </c:pt>
                <c:pt idx="5">
                  <c:v>Semences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0.49</c:v>
                </c:pt>
                <c:pt idx="1">
                  <c:v>0.22</c:v>
                </c:pt>
                <c:pt idx="2">
                  <c:v>0.13</c:v>
                </c:pt>
                <c:pt idx="3">
                  <c:v>0.09</c:v>
                </c:pt>
                <c:pt idx="4">
                  <c:v>0.05</c:v>
                </c:pt>
                <c:pt idx="5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915-4A29-B49E-1C6D654624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3461650627004951E-2"/>
          <c:y val="0.82155244700839625"/>
          <c:w val="0.88332847282978522"/>
          <c:h val="0.1273386704918783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271803136198934"/>
          <c:y val="0.10058771003192427"/>
          <c:w val="0.81405170965468121"/>
          <c:h val="0.6020839460334964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Total aide alimentaire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Feuil1!$A$2:$A$11</c:f>
              <c:strCache>
                <c:ptCount val="10"/>
                <c:pt idx="0">
                  <c:v>Syrie</c:v>
                </c:pt>
                <c:pt idx="1">
                  <c:v>Ethiopie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</c:v>
                </c:pt>
                <c:pt idx="5">
                  <c:v>Kenya</c:v>
                </c:pt>
                <c:pt idx="6">
                  <c:v>Bangladesh</c:v>
                </c:pt>
                <c:pt idx="7">
                  <c:v>Somalie</c:v>
                </c:pt>
                <c:pt idx="8">
                  <c:v>Congo</c:v>
                </c:pt>
                <c:pt idx="9">
                  <c:v>Niger</c:v>
                </c:pt>
              </c:strCache>
            </c:strRef>
          </c:cat>
          <c:val>
            <c:numRef>
              <c:f>Feuil1!$B$2:$B$11</c:f>
              <c:numCache>
                <c:formatCode>General</c:formatCode>
                <c:ptCount val="10"/>
                <c:pt idx="0">
                  <c:v>1858943</c:v>
                </c:pt>
                <c:pt idx="1">
                  <c:v>1381294</c:v>
                </c:pt>
                <c:pt idx="2">
                  <c:v>1206484</c:v>
                </c:pt>
                <c:pt idx="3">
                  <c:v>695240</c:v>
                </c:pt>
                <c:pt idx="4">
                  <c:v>669784</c:v>
                </c:pt>
                <c:pt idx="5">
                  <c:v>552836</c:v>
                </c:pt>
                <c:pt idx="6">
                  <c:v>348188</c:v>
                </c:pt>
                <c:pt idx="7">
                  <c:v>292678</c:v>
                </c:pt>
                <c:pt idx="8">
                  <c:v>288502</c:v>
                </c:pt>
                <c:pt idx="9">
                  <c:v>276344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10-4BD3-87E2-66E716DCE8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743729695"/>
        <c:axId val="1743752735"/>
      </c:barChart>
      <c:catAx>
        <c:axId val="1743729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1743752735"/>
        <c:crosses val="autoZero"/>
        <c:auto val="1"/>
        <c:lblAlgn val="ctr"/>
        <c:lblOffset val="100"/>
        <c:noMultiLvlLbl val="0"/>
      </c:catAx>
      <c:valAx>
        <c:axId val="17437527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fr-FR" sz="1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Millions</a:t>
                </a:r>
                <a:r>
                  <a:rPr lang="fr-FR" sz="1400" b="0" baseline="0" dirty="0">
                    <a:latin typeface="Arial" panose="020B0604020202020204" pitchFamily="34" charset="0"/>
                    <a:cs typeface="Arial" panose="020B0604020202020204" pitchFamily="34" charset="0"/>
                  </a:rPr>
                  <a:t> de tonnes </a:t>
                </a:r>
                <a:endParaRPr lang="fr-FR" sz="1400" b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1.7307363879515386E-3"/>
              <c:y val="0.2069606629367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1743729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6709117803466662"/>
          <c:y val="2.8407549667092882E-2"/>
          <c:w val="0.29814601315072703"/>
          <c:h val="7.63639879225220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67755609226744"/>
          <c:y val="5.6315835520559937E-2"/>
          <c:w val="0.68482742211484915"/>
          <c:h val="0.75134269036086709"/>
        </c:manualLayout>
      </c:layout>
      <c:barChart>
        <c:barDir val="col"/>
        <c:grouping val="clustered"/>
        <c:varyColors val="0"/>
        <c:ser>
          <c:idx val="0"/>
          <c:order val="0"/>
          <c:tx>
            <c:v>2013</c:v>
          </c:tx>
          <c:spPr>
            <a:gradFill rotWithShape="1">
              <a:gsLst>
                <a:gs pos="0">
                  <a:schemeClr val="accent1">
                    <a:shade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Feuil1!$A$8:$A$12</c:f>
              <c:strCache>
                <c:ptCount val="5"/>
                <c:pt idx="0">
                  <c:v>Syrie</c:v>
                </c:pt>
                <c:pt idx="1">
                  <c:v>Éthiopie      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 </c:v>
                </c:pt>
              </c:strCache>
            </c:strRef>
          </c:cat>
          <c:val>
            <c:numRef>
              <c:f>Feuil1!$B$8:$B$12</c:f>
              <c:numCache>
                <c:formatCode>General</c:formatCode>
                <c:ptCount val="5"/>
                <c:pt idx="0">
                  <c:v>563566</c:v>
                </c:pt>
                <c:pt idx="1">
                  <c:v>591404</c:v>
                </c:pt>
                <c:pt idx="2">
                  <c:v>264764</c:v>
                </c:pt>
                <c:pt idx="3">
                  <c:v>196330</c:v>
                </c:pt>
                <c:pt idx="4">
                  <c:v>330230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16-4525-8D10-1CCD95E86545}"/>
            </c:ext>
          </c:extLst>
        </c:ser>
        <c:ser>
          <c:idx val="1"/>
          <c:order val="1"/>
          <c:tx>
            <c:v>2014</c:v>
          </c:tx>
          <c:spPr>
            <a:gradFill rotWithShape="1">
              <a:gsLst>
                <a:gs pos="0">
                  <a:schemeClr val="accent1">
                    <a:shade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Feuil1!$A$8:$A$12</c:f>
              <c:strCache>
                <c:ptCount val="5"/>
                <c:pt idx="0">
                  <c:v>Syrie</c:v>
                </c:pt>
                <c:pt idx="1">
                  <c:v>Éthiopie      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 </c:v>
                </c:pt>
              </c:strCache>
            </c:strRef>
          </c:cat>
          <c:val>
            <c:numRef>
              <c:f>Feuil1!$C$8:$C$12</c:f>
              <c:numCache>
                <c:formatCode>General</c:formatCode>
                <c:ptCount val="5"/>
                <c:pt idx="0">
                  <c:v>651870</c:v>
                </c:pt>
                <c:pt idx="1">
                  <c:v>586624</c:v>
                </c:pt>
                <c:pt idx="2">
                  <c:v>103840</c:v>
                </c:pt>
                <c:pt idx="3">
                  <c:v>450610</c:v>
                </c:pt>
                <c:pt idx="4">
                  <c:v>321904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316-4525-8D10-1CCD95E86545}"/>
            </c:ext>
          </c:extLst>
        </c:ser>
        <c:ser>
          <c:idx val="2"/>
          <c:order val="2"/>
          <c:tx>
            <c:v>2015</c:v>
          </c:tx>
          <c:spPr>
            <a:gradFill rotWithShape="1">
              <a:gsLst>
                <a:gs pos="0">
                  <a:schemeClr val="accent1">
                    <a:tint val="8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8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8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Feuil1!$A$8:$A$12</c:f>
              <c:strCache>
                <c:ptCount val="5"/>
                <c:pt idx="0">
                  <c:v>Syrie</c:v>
                </c:pt>
                <c:pt idx="1">
                  <c:v>Éthiopie      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 </c:v>
                </c:pt>
              </c:strCache>
            </c:strRef>
          </c:cat>
          <c:val>
            <c:numRef>
              <c:f>Feuil1!$D$8:$D$12</c:f>
              <c:numCache>
                <c:formatCode>General</c:formatCode>
                <c:ptCount val="5"/>
                <c:pt idx="0">
                  <c:v>524949</c:v>
                </c:pt>
                <c:pt idx="1">
                  <c:v>203266</c:v>
                </c:pt>
                <c:pt idx="2">
                  <c:v>372306</c:v>
                </c:pt>
                <c:pt idx="3">
                  <c:v>48308</c:v>
                </c:pt>
                <c:pt idx="4">
                  <c:v>17650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16-4525-8D10-1CCD95E86545}"/>
            </c:ext>
          </c:extLst>
        </c:ser>
        <c:ser>
          <c:idx val="3"/>
          <c:order val="3"/>
          <c:tx>
            <c:v>2016</c:v>
          </c:tx>
          <c:spPr>
            <a:gradFill rotWithShape="1">
              <a:gsLst>
                <a:gs pos="0">
                  <a:schemeClr val="accent1">
                    <a:tint val="58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58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58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Feuil1!$A$8:$A$12</c:f>
              <c:strCache>
                <c:ptCount val="5"/>
                <c:pt idx="0">
                  <c:v>Syrie</c:v>
                </c:pt>
                <c:pt idx="1">
                  <c:v>Éthiopie      </c:v>
                </c:pt>
                <c:pt idx="2">
                  <c:v>Yémen</c:v>
                </c:pt>
                <c:pt idx="3">
                  <c:v>Soudan du Sud</c:v>
                </c:pt>
                <c:pt idx="4">
                  <c:v>Soudan </c:v>
                </c:pt>
              </c:strCache>
            </c:strRef>
          </c:cat>
          <c:val>
            <c:numRef>
              <c:f>Feuil1!$E$8:$E$12</c:f>
              <c:numCache>
                <c:formatCode>General</c:formatCode>
                <c:ptCount val="5"/>
                <c:pt idx="0">
                  <c:v>118558</c:v>
                </c:pt>
                <c:pt idx="1">
                  <c:v>0</c:v>
                </c:pt>
                <c:pt idx="2">
                  <c:v>465574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316-4525-8D10-1CCD95E86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27259487"/>
        <c:axId val="1527254687"/>
      </c:barChart>
      <c:catAx>
        <c:axId val="1527259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1527254687"/>
        <c:crosses val="autoZero"/>
        <c:auto val="1"/>
        <c:lblAlgn val="ctr"/>
        <c:lblOffset val="100"/>
        <c:noMultiLvlLbl val="0"/>
      </c:catAx>
      <c:valAx>
        <c:axId val="15272546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fr-FR" sz="14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Tonnes </a:t>
                </a:r>
              </a:p>
            </c:rich>
          </c:tx>
          <c:layout>
            <c:manualLayout>
              <c:xMode val="edge"/>
              <c:yMode val="edge"/>
              <c:x val="2.3747098059383256E-2"/>
              <c:y val="0.320918208684352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2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fr-F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fr-FR"/>
          </a:p>
        </c:txPr>
        <c:crossAx val="15272594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87879981275206442"/>
          <c:y val="0.12435024666581233"/>
          <c:w val="9.3546187824082958E-2"/>
          <c:h val="0.687342495193010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Ventes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C2BD-484D-9B4E-D495A6A6B544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2BD-484D-9B4E-D495A6A6B544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C2BD-484D-9B4E-D495A6A6B54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Feuil1!$A$2:$A$4</c:f>
              <c:strCache>
                <c:ptCount val="3"/>
                <c:pt idx="0">
                  <c:v>Exportations</c:v>
                </c:pt>
                <c:pt idx="1">
                  <c:v>Importations</c:v>
                </c:pt>
                <c:pt idx="2">
                  <c:v>Disponibilité Intérieure</c:v>
                </c:pt>
              </c:strCache>
            </c:strRef>
          </c:cat>
          <c:val>
            <c:numRef>
              <c:f>Feuil1!$B$2:$B$4</c:f>
              <c:numCache>
                <c:formatCode>#,##0</c:formatCode>
                <c:ptCount val="3"/>
                <c:pt idx="0">
                  <c:v>25214</c:v>
                </c:pt>
                <c:pt idx="1">
                  <c:v>1250</c:v>
                </c:pt>
                <c:pt idx="2">
                  <c:v>6264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BD-484D-9B4E-D495A6A6B544}"/>
            </c:ext>
          </c:extLst>
        </c:ser>
        <c:ser>
          <c:idx val="1"/>
          <c:order val="1"/>
          <c:tx>
            <c:strRef>
              <c:f>Feuil1!$C$1</c:f>
              <c:strCache>
                <c:ptCount val="1"/>
                <c:pt idx="0">
                  <c:v>Colonne1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D26F-4273-B5A1-A4418B5ED85B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D26F-4273-B5A1-A4418B5ED85B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D26F-4273-B5A1-A4418B5ED85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Feuil1!$A$2:$A$4</c:f>
              <c:strCache>
                <c:ptCount val="3"/>
                <c:pt idx="0">
                  <c:v>Exportations</c:v>
                </c:pt>
                <c:pt idx="1">
                  <c:v>Importations</c:v>
                </c:pt>
                <c:pt idx="2">
                  <c:v>Disponibilité Intérieure</c:v>
                </c:pt>
              </c:strCache>
            </c:strRef>
          </c:cat>
          <c:val>
            <c:numRef>
              <c:f>Feuil1!$C$2:$C$4</c:f>
              <c:numCache>
                <c:formatCode>0%</c:formatCode>
                <c:ptCount val="3"/>
                <c:pt idx="0">
                  <c:v>0.83</c:v>
                </c:pt>
                <c:pt idx="1">
                  <c:v>0.04</c:v>
                </c:pt>
                <c:pt idx="2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BD-484D-9B4E-D495A6A6B544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Répartition disponibilité intérieure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doughnutChart>
        <c:varyColors val="1"/>
        <c:ser>
          <c:idx val="1"/>
          <c:order val="0"/>
          <c:dPt>
            <c:idx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1EB-4894-BB1F-AD5922F488BA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E1EB-4894-BB1F-AD5922F488BA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E1EB-4894-BB1F-AD5922F488BA}"/>
              </c:ext>
            </c:extLst>
          </c:dPt>
          <c:dPt>
            <c:idx val="3"/>
            <c:bubble3D val="0"/>
            <c:spPr>
              <a:solidFill>
                <a:srgbClr val="DB4325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E1EB-4894-BB1F-AD5922F488B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Feuil1!$A$1:$A$4</c:f>
              <c:strCache>
                <c:ptCount val="4"/>
                <c:pt idx="0">
                  <c:v>Nourriture humaine</c:v>
                </c:pt>
                <c:pt idx="1">
                  <c:v>Aliments animaux</c:v>
                </c:pt>
                <c:pt idx="2">
                  <c:v>Autres utilisations</c:v>
                </c:pt>
                <c:pt idx="3">
                  <c:v>Pertes</c:v>
                </c:pt>
              </c:strCache>
            </c:strRef>
          </c:cat>
          <c:val>
            <c:numRef>
              <c:f>Feuil1!$C$1:$C$4</c:f>
              <c:numCache>
                <c:formatCode>0%</c:formatCode>
                <c:ptCount val="4"/>
                <c:pt idx="0">
                  <c:v>0.03</c:v>
                </c:pt>
                <c:pt idx="1">
                  <c:v>0.06</c:v>
                </c:pt>
                <c:pt idx="2">
                  <c:v>7.0000000000000007E-2</c:v>
                </c:pt>
                <c:pt idx="3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78-4C79-B601-9541321AB5EF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AAEC97-E913-47BD-AE40-E464E3B5285E}" type="doc">
      <dgm:prSet loTypeId="urn:microsoft.com/office/officeart/2005/8/layout/cycle3" loCatId="cycle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D7568A91-9EA5-4112-B671-5D5B311F94FE}">
      <dgm:prSet phldrT="[Texte]" custT="1"/>
      <dgm:spPr/>
      <dgm:t>
        <a:bodyPr/>
        <a:lstStyle/>
        <a:p>
          <a:r>
            <a:rPr lang="fr-FR" sz="1400" dirty="0"/>
            <a:t>POPULATION MONDIALE 2017</a:t>
          </a:r>
        </a:p>
        <a:p>
          <a:r>
            <a:rPr lang="fr-FR" sz="2000" b="1" dirty="0"/>
            <a:t>7.55 B</a:t>
          </a:r>
        </a:p>
      </dgm:t>
    </dgm:pt>
    <dgm:pt modelId="{E47C2F95-09F7-4DFD-B4D5-86D2C0F0A331}" type="parTrans" cxnId="{471D9EA5-AD97-44A2-B7C1-BC29C74C8D67}">
      <dgm:prSet/>
      <dgm:spPr/>
      <dgm:t>
        <a:bodyPr/>
        <a:lstStyle/>
        <a:p>
          <a:endParaRPr lang="fr-FR" sz="2800"/>
        </a:p>
      </dgm:t>
    </dgm:pt>
    <dgm:pt modelId="{89FF5394-CD2C-4829-842D-6E8F4FA87BC0}" type="sibTrans" cxnId="{471D9EA5-AD97-44A2-B7C1-BC29C74C8D67}">
      <dgm:prSet/>
      <dgm:spPr/>
      <dgm:t>
        <a:bodyPr/>
        <a:lstStyle/>
        <a:p>
          <a:endParaRPr lang="fr-FR" sz="2800"/>
        </a:p>
      </dgm:t>
    </dgm:pt>
    <dgm:pt modelId="{0018444F-724A-4FD7-BEA6-B0A3E1DD29EA}">
      <dgm:prSet phldrT="[Texte]" custT="1"/>
      <dgm:spPr/>
      <dgm:t>
        <a:bodyPr/>
        <a:lstStyle/>
        <a:p>
          <a:pPr>
            <a:buNone/>
          </a:pPr>
          <a:r>
            <a:rPr lang="fr-FR" sz="1400" dirty="0"/>
            <a:t>BESOIN POPULATION Kcal/jour </a:t>
          </a:r>
        </a:p>
        <a:p>
          <a:pPr>
            <a:buNone/>
          </a:pPr>
          <a:r>
            <a:rPr lang="fr-FR" sz="2000" b="1" dirty="0"/>
            <a:t>18 875 B</a:t>
          </a:r>
          <a:endParaRPr lang="fr-FR" sz="1400" b="1" dirty="0"/>
        </a:p>
      </dgm:t>
    </dgm:pt>
    <dgm:pt modelId="{4F0470F1-9191-4760-A71E-FA2DEC2142EA}" type="parTrans" cxnId="{0576B6C2-9C5B-4A55-B89D-B09BD8C0E65D}">
      <dgm:prSet/>
      <dgm:spPr/>
      <dgm:t>
        <a:bodyPr/>
        <a:lstStyle/>
        <a:p>
          <a:endParaRPr lang="fr-FR"/>
        </a:p>
      </dgm:t>
    </dgm:pt>
    <dgm:pt modelId="{93DB5F80-E7F3-4C15-94CC-4EE5F437A6D8}" type="sibTrans" cxnId="{0576B6C2-9C5B-4A55-B89D-B09BD8C0E65D}">
      <dgm:prSet/>
      <dgm:spPr/>
      <dgm:t>
        <a:bodyPr/>
        <a:lstStyle/>
        <a:p>
          <a:endParaRPr lang="fr-FR"/>
        </a:p>
      </dgm:t>
    </dgm:pt>
    <dgm:pt modelId="{37FC69D6-CACA-4790-B4BD-D46CA3BC7A2A}">
      <dgm:prSet phldrT="[Texte]" custT="1"/>
      <dgm:spPr/>
      <dgm:t>
        <a:bodyPr/>
        <a:lstStyle/>
        <a:p>
          <a:r>
            <a:rPr lang="fr-FR" sz="1400" dirty="0"/>
            <a:t>DISPONIBILITÉ TOTALE Kcal/jour</a:t>
          </a:r>
        </a:p>
        <a:p>
          <a:r>
            <a:rPr lang="fr-FR" sz="2000" b="1" dirty="0"/>
            <a:t>20 918 B</a:t>
          </a:r>
        </a:p>
      </dgm:t>
    </dgm:pt>
    <dgm:pt modelId="{C831ED37-E8FE-4870-9D56-85ABF108B230}" type="sibTrans" cxnId="{AA91F519-E1B1-46B7-AC38-1002EF188509}">
      <dgm:prSet/>
      <dgm:spPr/>
      <dgm:t>
        <a:bodyPr/>
        <a:lstStyle/>
        <a:p>
          <a:endParaRPr lang="fr-FR" sz="2800"/>
        </a:p>
      </dgm:t>
    </dgm:pt>
    <dgm:pt modelId="{3F118B82-E9F0-427C-8431-657F0454123E}" type="parTrans" cxnId="{AA91F519-E1B1-46B7-AC38-1002EF188509}">
      <dgm:prSet/>
      <dgm:spPr/>
      <dgm:t>
        <a:bodyPr/>
        <a:lstStyle/>
        <a:p>
          <a:endParaRPr lang="fr-FR" sz="2800"/>
        </a:p>
      </dgm:t>
    </dgm:pt>
    <dgm:pt modelId="{9B6B1572-6B80-46FD-96B2-BA9A4DF32F43}">
      <dgm:prSet phldrT="[Texte]" custT="1"/>
      <dgm:spPr/>
      <dgm:t>
        <a:bodyPr/>
        <a:lstStyle/>
        <a:p>
          <a:r>
            <a:rPr lang="fr-FR" sz="1400" b="0" dirty="0"/>
            <a:t>DISPONIBILITE Kcal/pers/jour </a:t>
          </a:r>
        </a:p>
        <a:p>
          <a:r>
            <a:rPr lang="fr-FR" sz="2000" b="1" dirty="0"/>
            <a:t>2 500</a:t>
          </a:r>
        </a:p>
      </dgm:t>
    </dgm:pt>
    <dgm:pt modelId="{76F86CBE-DBD8-49AF-8E73-5C9C24CBA1FB}" type="parTrans" cxnId="{E447F46F-0C7F-4B9C-9447-F75A178DFEAA}">
      <dgm:prSet/>
      <dgm:spPr/>
      <dgm:t>
        <a:bodyPr/>
        <a:lstStyle/>
        <a:p>
          <a:endParaRPr lang="fr-FR"/>
        </a:p>
      </dgm:t>
    </dgm:pt>
    <dgm:pt modelId="{50180CCE-44F0-4206-BFD6-8E3865B57FAA}" type="sibTrans" cxnId="{E447F46F-0C7F-4B9C-9447-F75A178DFEAA}">
      <dgm:prSet/>
      <dgm:spPr/>
      <dgm:t>
        <a:bodyPr/>
        <a:lstStyle/>
        <a:p>
          <a:endParaRPr lang="fr-FR"/>
        </a:p>
      </dgm:t>
    </dgm:pt>
    <dgm:pt modelId="{94805B62-6481-4B37-AB99-5F80504DD2C4}">
      <dgm:prSet phldrT="[Texte]" phldr="0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400" dirty="0">
              <a:solidFill>
                <a:schemeClr val="accent6">
                  <a:lumMod val="50000"/>
                </a:schemeClr>
              </a:solidFill>
            </a:rPr>
            <a:t>EXCEDENT</a:t>
          </a:r>
          <a:r>
            <a:rPr lang="fr-FR" sz="11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fr-FR" sz="1400" b="0" dirty="0">
              <a:solidFill>
                <a:schemeClr val="accent6">
                  <a:lumMod val="50000"/>
                </a:schemeClr>
              </a:solidFill>
            </a:rPr>
            <a:t>+ 11%  </a:t>
          </a:r>
        </a:p>
        <a:p>
          <a:r>
            <a:rPr lang="fr-FR" sz="2000" b="1" dirty="0">
              <a:solidFill>
                <a:schemeClr val="accent6">
                  <a:lumMod val="50000"/>
                </a:schemeClr>
              </a:solidFill>
            </a:rPr>
            <a:t>8.37 B</a:t>
          </a:r>
        </a:p>
      </dgm:t>
    </dgm:pt>
    <dgm:pt modelId="{5C63F689-CD83-4EEB-B453-58C181FE4F1A}" type="sibTrans" cxnId="{435A10F2-0616-4264-86DB-1E649A19995B}">
      <dgm:prSet/>
      <dgm:spPr/>
      <dgm:t>
        <a:bodyPr/>
        <a:lstStyle/>
        <a:p>
          <a:endParaRPr lang="fr-FR" sz="2800"/>
        </a:p>
      </dgm:t>
    </dgm:pt>
    <dgm:pt modelId="{848A8679-BEDC-4B8C-ABF4-EA1A670329FD}" type="parTrans" cxnId="{435A10F2-0616-4264-86DB-1E649A19995B}">
      <dgm:prSet/>
      <dgm:spPr/>
      <dgm:t>
        <a:bodyPr/>
        <a:lstStyle/>
        <a:p>
          <a:endParaRPr lang="fr-FR" sz="2800"/>
        </a:p>
      </dgm:t>
    </dgm:pt>
    <dgm:pt modelId="{FBAF3D7A-095E-43B5-AA6B-70FE66B547EE}" type="pres">
      <dgm:prSet presAssocID="{FEAAEC97-E913-47BD-AE40-E464E3B5285E}" presName="Name0" presStyleCnt="0">
        <dgm:presLayoutVars>
          <dgm:dir/>
          <dgm:resizeHandles val="exact"/>
        </dgm:presLayoutVars>
      </dgm:prSet>
      <dgm:spPr/>
    </dgm:pt>
    <dgm:pt modelId="{60012BFA-992F-456A-A9D3-0E3AAEE20501}" type="pres">
      <dgm:prSet presAssocID="{FEAAEC97-E913-47BD-AE40-E464E3B5285E}" presName="cycle" presStyleCnt="0"/>
      <dgm:spPr/>
    </dgm:pt>
    <dgm:pt modelId="{6D4920D6-C93C-4C33-A21A-2F73FFACD8CE}" type="pres">
      <dgm:prSet presAssocID="{D7568A91-9EA5-4112-B671-5D5B311F94FE}" presName="nodeFirstNode" presStyleLbl="node1" presStyleIdx="0" presStyleCnt="5">
        <dgm:presLayoutVars>
          <dgm:bulletEnabled val="1"/>
        </dgm:presLayoutVars>
      </dgm:prSet>
      <dgm:spPr/>
    </dgm:pt>
    <dgm:pt modelId="{254FEAD4-1606-43D0-8EC8-E2917B272A4C}" type="pres">
      <dgm:prSet presAssocID="{89FF5394-CD2C-4829-842D-6E8F4FA87BC0}" presName="sibTransFirstNode" presStyleLbl="bgShp" presStyleIdx="0" presStyleCnt="1"/>
      <dgm:spPr/>
    </dgm:pt>
    <dgm:pt modelId="{EA4D5923-B051-4148-ADBB-2414EFC43749}" type="pres">
      <dgm:prSet presAssocID="{9B6B1572-6B80-46FD-96B2-BA9A4DF32F43}" presName="nodeFollowingNodes" presStyleLbl="node1" presStyleIdx="1" presStyleCnt="5">
        <dgm:presLayoutVars>
          <dgm:bulletEnabled val="1"/>
        </dgm:presLayoutVars>
      </dgm:prSet>
      <dgm:spPr/>
    </dgm:pt>
    <dgm:pt modelId="{34D2E5D8-E46C-45A1-BDB6-A281EFF0ECCC}" type="pres">
      <dgm:prSet presAssocID="{0018444F-724A-4FD7-BEA6-B0A3E1DD29EA}" presName="nodeFollowingNodes" presStyleLbl="node1" presStyleIdx="2" presStyleCnt="5">
        <dgm:presLayoutVars>
          <dgm:bulletEnabled val="1"/>
        </dgm:presLayoutVars>
      </dgm:prSet>
      <dgm:spPr/>
    </dgm:pt>
    <dgm:pt modelId="{7A61D0D1-42F9-4970-A485-8277325190B6}" type="pres">
      <dgm:prSet presAssocID="{37FC69D6-CACA-4790-B4BD-D46CA3BC7A2A}" presName="nodeFollowingNodes" presStyleLbl="node1" presStyleIdx="3" presStyleCnt="5">
        <dgm:presLayoutVars>
          <dgm:bulletEnabled val="1"/>
        </dgm:presLayoutVars>
      </dgm:prSet>
      <dgm:spPr/>
    </dgm:pt>
    <dgm:pt modelId="{A534265D-3401-4B38-8A0A-752061CE8D5C}" type="pres">
      <dgm:prSet presAssocID="{94805B62-6481-4B37-AB99-5F80504DD2C4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67420303-52A4-4643-B260-332849943A67}" type="presOf" srcId="{89FF5394-CD2C-4829-842D-6E8F4FA87BC0}" destId="{254FEAD4-1606-43D0-8EC8-E2917B272A4C}" srcOrd="0" destOrd="0" presId="urn:microsoft.com/office/officeart/2005/8/layout/cycle3"/>
    <dgm:cxn modelId="{AA91F519-E1B1-46B7-AC38-1002EF188509}" srcId="{FEAAEC97-E913-47BD-AE40-E464E3B5285E}" destId="{37FC69D6-CACA-4790-B4BD-D46CA3BC7A2A}" srcOrd="3" destOrd="0" parTransId="{3F118B82-E9F0-427C-8431-657F0454123E}" sibTransId="{C831ED37-E8FE-4870-9D56-85ABF108B230}"/>
    <dgm:cxn modelId="{6ACF0D3B-CE6B-4E49-8C38-224F6E3E1D3A}" type="presOf" srcId="{94805B62-6481-4B37-AB99-5F80504DD2C4}" destId="{A534265D-3401-4B38-8A0A-752061CE8D5C}" srcOrd="0" destOrd="0" presId="urn:microsoft.com/office/officeart/2005/8/layout/cycle3"/>
    <dgm:cxn modelId="{45DA7367-E328-4D73-9688-85817F08B070}" type="presOf" srcId="{FEAAEC97-E913-47BD-AE40-E464E3B5285E}" destId="{FBAF3D7A-095E-43B5-AA6B-70FE66B547EE}" srcOrd="0" destOrd="0" presId="urn:microsoft.com/office/officeart/2005/8/layout/cycle3"/>
    <dgm:cxn modelId="{C8A64E6B-A317-4E82-85F5-9F58F70445AF}" type="presOf" srcId="{D7568A91-9EA5-4112-B671-5D5B311F94FE}" destId="{6D4920D6-C93C-4C33-A21A-2F73FFACD8CE}" srcOrd="0" destOrd="0" presId="urn:microsoft.com/office/officeart/2005/8/layout/cycle3"/>
    <dgm:cxn modelId="{E447F46F-0C7F-4B9C-9447-F75A178DFEAA}" srcId="{FEAAEC97-E913-47BD-AE40-E464E3B5285E}" destId="{9B6B1572-6B80-46FD-96B2-BA9A4DF32F43}" srcOrd="1" destOrd="0" parTransId="{76F86CBE-DBD8-49AF-8E73-5C9C24CBA1FB}" sibTransId="{50180CCE-44F0-4206-BFD6-8E3865B57FAA}"/>
    <dgm:cxn modelId="{0A09EB96-BAA6-40B6-87C1-7111E12FEE4C}" type="presOf" srcId="{9B6B1572-6B80-46FD-96B2-BA9A4DF32F43}" destId="{EA4D5923-B051-4148-ADBB-2414EFC43749}" srcOrd="0" destOrd="0" presId="urn:microsoft.com/office/officeart/2005/8/layout/cycle3"/>
    <dgm:cxn modelId="{1FBF36A5-4335-4C20-8DA5-FFF1CB7F3F7E}" type="presOf" srcId="{0018444F-724A-4FD7-BEA6-B0A3E1DD29EA}" destId="{34D2E5D8-E46C-45A1-BDB6-A281EFF0ECCC}" srcOrd="0" destOrd="0" presId="urn:microsoft.com/office/officeart/2005/8/layout/cycle3"/>
    <dgm:cxn modelId="{471D9EA5-AD97-44A2-B7C1-BC29C74C8D67}" srcId="{FEAAEC97-E913-47BD-AE40-E464E3B5285E}" destId="{D7568A91-9EA5-4112-B671-5D5B311F94FE}" srcOrd="0" destOrd="0" parTransId="{E47C2F95-09F7-4DFD-B4D5-86D2C0F0A331}" sibTransId="{89FF5394-CD2C-4829-842D-6E8F4FA87BC0}"/>
    <dgm:cxn modelId="{0576B6C2-9C5B-4A55-B89D-B09BD8C0E65D}" srcId="{FEAAEC97-E913-47BD-AE40-E464E3B5285E}" destId="{0018444F-724A-4FD7-BEA6-B0A3E1DD29EA}" srcOrd="2" destOrd="0" parTransId="{4F0470F1-9191-4760-A71E-FA2DEC2142EA}" sibTransId="{93DB5F80-E7F3-4C15-94CC-4EE5F437A6D8}"/>
    <dgm:cxn modelId="{EFB87CD8-D839-4F32-83F1-6A8A4651DF7F}" type="presOf" srcId="{37FC69D6-CACA-4790-B4BD-D46CA3BC7A2A}" destId="{7A61D0D1-42F9-4970-A485-8277325190B6}" srcOrd="0" destOrd="0" presId="urn:microsoft.com/office/officeart/2005/8/layout/cycle3"/>
    <dgm:cxn modelId="{435A10F2-0616-4264-86DB-1E649A19995B}" srcId="{FEAAEC97-E913-47BD-AE40-E464E3B5285E}" destId="{94805B62-6481-4B37-AB99-5F80504DD2C4}" srcOrd="4" destOrd="0" parTransId="{848A8679-BEDC-4B8C-ABF4-EA1A670329FD}" sibTransId="{5C63F689-CD83-4EEB-B453-58C181FE4F1A}"/>
    <dgm:cxn modelId="{70578DA1-04B1-48F2-8CA3-25858C133A2D}" type="presParOf" srcId="{FBAF3D7A-095E-43B5-AA6B-70FE66B547EE}" destId="{60012BFA-992F-456A-A9D3-0E3AAEE20501}" srcOrd="0" destOrd="0" presId="urn:microsoft.com/office/officeart/2005/8/layout/cycle3"/>
    <dgm:cxn modelId="{A5B75308-0656-4732-BB59-62727C249F59}" type="presParOf" srcId="{60012BFA-992F-456A-A9D3-0E3AAEE20501}" destId="{6D4920D6-C93C-4C33-A21A-2F73FFACD8CE}" srcOrd="0" destOrd="0" presId="urn:microsoft.com/office/officeart/2005/8/layout/cycle3"/>
    <dgm:cxn modelId="{1C596B16-4721-49EE-8CD0-8B494D1DC038}" type="presParOf" srcId="{60012BFA-992F-456A-A9D3-0E3AAEE20501}" destId="{254FEAD4-1606-43D0-8EC8-E2917B272A4C}" srcOrd="1" destOrd="0" presId="urn:microsoft.com/office/officeart/2005/8/layout/cycle3"/>
    <dgm:cxn modelId="{20FDB936-87FE-4912-94C2-04E39DD0EEA0}" type="presParOf" srcId="{60012BFA-992F-456A-A9D3-0E3AAEE20501}" destId="{EA4D5923-B051-4148-ADBB-2414EFC43749}" srcOrd="2" destOrd="0" presId="urn:microsoft.com/office/officeart/2005/8/layout/cycle3"/>
    <dgm:cxn modelId="{15381994-D1DE-45AE-9FAD-214BB464FF1D}" type="presParOf" srcId="{60012BFA-992F-456A-A9D3-0E3AAEE20501}" destId="{34D2E5D8-E46C-45A1-BDB6-A281EFF0ECCC}" srcOrd="3" destOrd="0" presId="urn:microsoft.com/office/officeart/2005/8/layout/cycle3"/>
    <dgm:cxn modelId="{917380E6-0F5F-4130-9A90-CDDE1F6AF809}" type="presParOf" srcId="{60012BFA-992F-456A-A9D3-0E3AAEE20501}" destId="{7A61D0D1-42F9-4970-A485-8277325190B6}" srcOrd="4" destOrd="0" presId="urn:microsoft.com/office/officeart/2005/8/layout/cycle3"/>
    <dgm:cxn modelId="{5157421A-7676-4530-807B-CC543E4CD9F0}" type="presParOf" srcId="{60012BFA-992F-456A-A9D3-0E3AAEE20501}" destId="{A534265D-3401-4B38-8A0A-752061CE8D5C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AAEC97-E913-47BD-AE40-E464E3B5285E}" type="doc">
      <dgm:prSet loTypeId="urn:microsoft.com/office/officeart/2005/8/layout/cycle3" loCatId="cycle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fr-FR"/>
        </a:p>
      </dgm:t>
    </dgm:pt>
    <dgm:pt modelId="{D7568A91-9EA5-4112-B671-5D5B311F94FE}">
      <dgm:prSet phldrT="[Texte]" custT="1"/>
      <dgm:spPr/>
      <dgm:t>
        <a:bodyPr/>
        <a:lstStyle/>
        <a:p>
          <a:r>
            <a:rPr lang="fr-FR" sz="1400" dirty="0"/>
            <a:t>POPULATION MONDIALE 2017</a:t>
          </a:r>
        </a:p>
        <a:p>
          <a:r>
            <a:rPr lang="fr-FR" sz="2000" b="1" dirty="0"/>
            <a:t>7.55 B</a:t>
          </a:r>
        </a:p>
      </dgm:t>
    </dgm:pt>
    <dgm:pt modelId="{E47C2F95-09F7-4DFD-B4D5-86D2C0F0A331}" type="parTrans" cxnId="{471D9EA5-AD97-44A2-B7C1-BC29C74C8D67}">
      <dgm:prSet/>
      <dgm:spPr/>
      <dgm:t>
        <a:bodyPr/>
        <a:lstStyle/>
        <a:p>
          <a:endParaRPr lang="fr-FR" sz="2800"/>
        </a:p>
      </dgm:t>
    </dgm:pt>
    <dgm:pt modelId="{89FF5394-CD2C-4829-842D-6E8F4FA87BC0}" type="sibTrans" cxnId="{471D9EA5-AD97-44A2-B7C1-BC29C74C8D67}">
      <dgm:prSet/>
      <dgm:spPr/>
      <dgm:t>
        <a:bodyPr/>
        <a:lstStyle/>
        <a:p>
          <a:endParaRPr lang="fr-FR" sz="2800"/>
        </a:p>
      </dgm:t>
    </dgm:pt>
    <dgm:pt modelId="{94805B62-6481-4B37-AB99-5F80504DD2C4}">
      <dgm:prSet phldrT="[Texte]" phldr="0" custT="1"/>
      <dgm:spPr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</dgm:spPr>
      <dgm:t>
        <a:bodyPr/>
        <a:lstStyle/>
        <a:p>
          <a:r>
            <a:rPr lang="fr-FR" sz="1400" b="0" i="0" dirty="0">
              <a:solidFill>
                <a:schemeClr val="accent6">
                  <a:lumMod val="50000"/>
                </a:schemeClr>
              </a:solidFill>
            </a:rPr>
            <a:t>NOMBRE THEORIQUE</a:t>
          </a:r>
        </a:p>
        <a:p>
          <a:r>
            <a:rPr lang="fr-FR" sz="2000" b="1" i="0" dirty="0">
              <a:solidFill>
                <a:schemeClr val="accent6">
                  <a:lumMod val="50000"/>
                </a:schemeClr>
              </a:solidFill>
            </a:rPr>
            <a:t>6.90 B</a:t>
          </a:r>
          <a:endParaRPr lang="fr-FR" sz="2000" b="1" dirty="0">
            <a:solidFill>
              <a:schemeClr val="accent6">
                <a:lumMod val="50000"/>
              </a:schemeClr>
            </a:solidFill>
          </a:endParaRPr>
        </a:p>
      </dgm:t>
    </dgm:pt>
    <dgm:pt modelId="{5C63F689-CD83-4EEB-B453-58C181FE4F1A}" type="sibTrans" cxnId="{435A10F2-0616-4264-86DB-1E649A19995B}">
      <dgm:prSet/>
      <dgm:spPr/>
      <dgm:t>
        <a:bodyPr/>
        <a:lstStyle/>
        <a:p>
          <a:endParaRPr lang="fr-FR" sz="2800"/>
        </a:p>
      </dgm:t>
    </dgm:pt>
    <dgm:pt modelId="{848A8679-BEDC-4B8C-ABF4-EA1A670329FD}" type="parTrans" cxnId="{435A10F2-0616-4264-86DB-1E649A19995B}">
      <dgm:prSet/>
      <dgm:spPr/>
      <dgm:t>
        <a:bodyPr/>
        <a:lstStyle/>
        <a:p>
          <a:endParaRPr lang="fr-FR" sz="2800"/>
        </a:p>
      </dgm:t>
    </dgm:pt>
    <dgm:pt modelId="{37FC69D6-CACA-4790-B4BD-D46CA3BC7A2A}">
      <dgm:prSet phldrT="[Texte]" custT="1"/>
      <dgm:spPr/>
      <dgm:t>
        <a:bodyPr/>
        <a:lstStyle/>
        <a:p>
          <a:r>
            <a:rPr lang="fr-FR" sz="1400" b="0" i="0" dirty="0"/>
            <a:t>COUVERTURE DE LA POPULATION REELE </a:t>
          </a:r>
        </a:p>
        <a:p>
          <a:r>
            <a:rPr lang="fr-FR" sz="2000" b="1" i="0" dirty="0"/>
            <a:t>91.4 %</a:t>
          </a:r>
          <a:endParaRPr lang="fr-FR" sz="3200" b="1" dirty="0"/>
        </a:p>
      </dgm:t>
    </dgm:pt>
    <dgm:pt modelId="{C831ED37-E8FE-4870-9D56-85ABF108B230}" type="sibTrans" cxnId="{AA91F519-E1B1-46B7-AC38-1002EF188509}">
      <dgm:prSet/>
      <dgm:spPr/>
      <dgm:t>
        <a:bodyPr/>
        <a:lstStyle/>
        <a:p>
          <a:endParaRPr lang="fr-FR" sz="2800"/>
        </a:p>
      </dgm:t>
    </dgm:pt>
    <dgm:pt modelId="{3F118B82-E9F0-427C-8431-657F0454123E}" type="parTrans" cxnId="{AA91F519-E1B1-46B7-AC38-1002EF188509}">
      <dgm:prSet/>
      <dgm:spPr/>
      <dgm:t>
        <a:bodyPr/>
        <a:lstStyle/>
        <a:p>
          <a:endParaRPr lang="fr-FR" sz="2800"/>
        </a:p>
      </dgm:t>
    </dgm:pt>
    <dgm:pt modelId="{AB11620A-EC51-4342-9730-5E7FB334D1F1}">
      <dgm:prSet phldrT="[Texte]" custT="1"/>
      <dgm:spPr/>
      <dgm:t>
        <a:bodyPr/>
        <a:lstStyle/>
        <a:p>
          <a:r>
            <a:rPr lang="fr-FR" sz="1400" b="0" dirty="0"/>
            <a:t>DISPONIBILITE Kcal/jour </a:t>
          </a:r>
        </a:p>
        <a:p>
          <a:r>
            <a:rPr lang="fr-FR" sz="2000" b="1" dirty="0"/>
            <a:t>17 260 B</a:t>
          </a:r>
        </a:p>
      </dgm:t>
    </dgm:pt>
    <dgm:pt modelId="{4D82D725-4971-4B58-A30E-905E0C71F79C}" type="parTrans" cxnId="{8B66DB6F-D32D-4856-9BED-1D609C9F5131}">
      <dgm:prSet/>
      <dgm:spPr/>
      <dgm:t>
        <a:bodyPr/>
        <a:lstStyle/>
        <a:p>
          <a:endParaRPr lang="fr-FR"/>
        </a:p>
      </dgm:t>
    </dgm:pt>
    <dgm:pt modelId="{3209AF18-2948-44E0-83D7-8AED7116DD02}" type="sibTrans" cxnId="{8B66DB6F-D32D-4856-9BED-1D609C9F5131}">
      <dgm:prSet/>
      <dgm:spPr/>
      <dgm:t>
        <a:bodyPr/>
        <a:lstStyle/>
        <a:p>
          <a:endParaRPr lang="fr-FR"/>
        </a:p>
      </dgm:t>
    </dgm:pt>
    <dgm:pt modelId="{0F79D0EB-4F8A-48B7-8968-06A120BC2AF4}">
      <dgm:prSet phldrT="[Texte]" custT="1"/>
      <dgm:spPr/>
      <dgm:t>
        <a:bodyPr/>
        <a:lstStyle/>
        <a:p>
          <a:pPr>
            <a:buNone/>
          </a:pPr>
          <a:r>
            <a:rPr lang="fr-FR" sz="1400" dirty="0"/>
            <a:t>BESOIN POPULATION Kcal/jour </a:t>
          </a:r>
        </a:p>
        <a:p>
          <a:pPr>
            <a:buNone/>
          </a:pPr>
          <a:r>
            <a:rPr lang="fr-FR" sz="2000" b="1" dirty="0"/>
            <a:t>18 875 B</a:t>
          </a:r>
        </a:p>
      </dgm:t>
    </dgm:pt>
    <dgm:pt modelId="{35A66EE0-6B27-405E-ADDB-C8A827290998}" type="parTrans" cxnId="{A11B8F10-3FE2-4D1F-AD4A-B393B8B1A585}">
      <dgm:prSet/>
      <dgm:spPr/>
      <dgm:t>
        <a:bodyPr/>
        <a:lstStyle/>
        <a:p>
          <a:endParaRPr lang="fr-FR"/>
        </a:p>
      </dgm:t>
    </dgm:pt>
    <dgm:pt modelId="{ED913133-2943-46FF-B8CD-9267AD95CDFE}" type="sibTrans" cxnId="{A11B8F10-3FE2-4D1F-AD4A-B393B8B1A585}">
      <dgm:prSet/>
      <dgm:spPr/>
      <dgm:t>
        <a:bodyPr/>
        <a:lstStyle/>
        <a:p>
          <a:endParaRPr lang="fr-FR"/>
        </a:p>
      </dgm:t>
    </dgm:pt>
    <dgm:pt modelId="{FBAF3D7A-095E-43B5-AA6B-70FE66B547EE}" type="pres">
      <dgm:prSet presAssocID="{FEAAEC97-E913-47BD-AE40-E464E3B5285E}" presName="Name0" presStyleCnt="0">
        <dgm:presLayoutVars>
          <dgm:dir/>
          <dgm:resizeHandles val="exact"/>
        </dgm:presLayoutVars>
      </dgm:prSet>
      <dgm:spPr/>
    </dgm:pt>
    <dgm:pt modelId="{60012BFA-992F-456A-A9D3-0E3AAEE20501}" type="pres">
      <dgm:prSet presAssocID="{FEAAEC97-E913-47BD-AE40-E464E3B5285E}" presName="cycle" presStyleCnt="0"/>
      <dgm:spPr/>
    </dgm:pt>
    <dgm:pt modelId="{6D4920D6-C93C-4C33-A21A-2F73FFACD8CE}" type="pres">
      <dgm:prSet presAssocID="{D7568A91-9EA5-4112-B671-5D5B311F94FE}" presName="nodeFirstNode" presStyleLbl="node1" presStyleIdx="0" presStyleCnt="5">
        <dgm:presLayoutVars>
          <dgm:bulletEnabled val="1"/>
        </dgm:presLayoutVars>
      </dgm:prSet>
      <dgm:spPr/>
    </dgm:pt>
    <dgm:pt modelId="{254FEAD4-1606-43D0-8EC8-E2917B272A4C}" type="pres">
      <dgm:prSet presAssocID="{89FF5394-CD2C-4829-842D-6E8F4FA87BC0}" presName="sibTransFirstNode" presStyleLbl="bgShp" presStyleIdx="0" presStyleCnt="1"/>
      <dgm:spPr/>
    </dgm:pt>
    <dgm:pt modelId="{7BEB5946-37D2-48F2-8497-76BCDB5CD580}" type="pres">
      <dgm:prSet presAssocID="{0F79D0EB-4F8A-48B7-8968-06A120BC2AF4}" presName="nodeFollowingNodes" presStyleLbl="node1" presStyleIdx="1" presStyleCnt="5">
        <dgm:presLayoutVars>
          <dgm:bulletEnabled val="1"/>
        </dgm:presLayoutVars>
      </dgm:prSet>
      <dgm:spPr/>
    </dgm:pt>
    <dgm:pt modelId="{4D712679-1625-431B-9A43-6DD2C100777F}" type="pres">
      <dgm:prSet presAssocID="{AB11620A-EC51-4342-9730-5E7FB334D1F1}" presName="nodeFollowingNodes" presStyleLbl="node1" presStyleIdx="2" presStyleCnt="5">
        <dgm:presLayoutVars>
          <dgm:bulletEnabled val="1"/>
        </dgm:presLayoutVars>
      </dgm:prSet>
      <dgm:spPr/>
    </dgm:pt>
    <dgm:pt modelId="{7A61D0D1-42F9-4970-A485-8277325190B6}" type="pres">
      <dgm:prSet presAssocID="{37FC69D6-CACA-4790-B4BD-D46CA3BC7A2A}" presName="nodeFollowingNodes" presStyleLbl="node1" presStyleIdx="3" presStyleCnt="5">
        <dgm:presLayoutVars>
          <dgm:bulletEnabled val="1"/>
        </dgm:presLayoutVars>
      </dgm:prSet>
      <dgm:spPr/>
    </dgm:pt>
    <dgm:pt modelId="{A534265D-3401-4B38-8A0A-752061CE8D5C}" type="pres">
      <dgm:prSet presAssocID="{94805B62-6481-4B37-AB99-5F80504DD2C4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67420303-52A4-4643-B260-332849943A67}" type="presOf" srcId="{89FF5394-CD2C-4829-842D-6E8F4FA87BC0}" destId="{254FEAD4-1606-43D0-8EC8-E2917B272A4C}" srcOrd="0" destOrd="0" presId="urn:microsoft.com/office/officeart/2005/8/layout/cycle3"/>
    <dgm:cxn modelId="{A11B8F10-3FE2-4D1F-AD4A-B393B8B1A585}" srcId="{FEAAEC97-E913-47BD-AE40-E464E3B5285E}" destId="{0F79D0EB-4F8A-48B7-8968-06A120BC2AF4}" srcOrd="1" destOrd="0" parTransId="{35A66EE0-6B27-405E-ADDB-C8A827290998}" sibTransId="{ED913133-2943-46FF-B8CD-9267AD95CDFE}"/>
    <dgm:cxn modelId="{AA91F519-E1B1-46B7-AC38-1002EF188509}" srcId="{FEAAEC97-E913-47BD-AE40-E464E3B5285E}" destId="{37FC69D6-CACA-4790-B4BD-D46CA3BC7A2A}" srcOrd="3" destOrd="0" parTransId="{3F118B82-E9F0-427C-8431-657F0454123E}" sibTransId="{C831ED37-E8FE-4870-9D56-85ABF108B230}"/>
    <dgm:cxn modelId="{AF0E8C35-DE67-4FC1-A838-84E073887790}" type="presOf" srcId="{0F79D0EB-4F8A-48B7-8968-06A120BC2AF4}" destId="{7BEB5946-37D2-48F2-8497-76BCDB5CD580}" srcOrd="0" destOrd="0" presId="urn:microsoft.com/office/officeart/2005/8/layout/cycle3"/>
    <dgm:cxn modelId="{6ACF0D3B-CE6B-4E49-8C38-224F6E3E1D3A}" type="presOf" srcId="{94805B62-6481-4B37-AB99-5F80504DD2C4}" destId="{A534265D-3401-4B38-8A0A-752061CE8D5C}" srcOrd="0" destOrd="0" presId="urn:microsoft.com/office/officeart/2005/8/layout/cycle3"/>
    <dgm:cxn modelId="{45DA7367-E328-4D73-9688-85817F08B070}" type="presOf" srcId="{FEAAEC97-E913-47BD-AE40-E464E3B5285E}" destId="{FBAF3D7A-095E-43B5-AA6B-70FE66B547EE}" srcOrd="0" destOrd="0" presId="urn:microsoft.com/office/officeart/2005/8/layout/cycle3"/>
    <dgm:cxn modelId="{C8A64E6B-A317-4E82-85F5-9F58F70445AF}" type="presOf" srcId="{D7568A91-9EA5-4112-B671-5D5B311F94FE}" destId="{6D4920D6-C93C-4C33-A21A-2F73FFACD8CE}" srcOrd="0" destOrd="0" presId="urn:microsoft.com/office/officeart/2005/8/layout/cycle3"/>
    <dgm:cxn modelId="{8B66DB6F-D32D-4856-9BED-1D609C9F5131}" srcId="{FEAAEC97-E913-47BD-AE40-E464E3B5285E}" destId="{AB11620A-EC51-4342-9730-5E7FB334D1F1}" srcOrd="2" destOrd="0" parTransId="{4D82D725-4971-4B58-A30E-905E0C71F79C}" sibTransId="{3209AF18-2948-44E0-83D7-8AED7116DD02}"/>
    <dgm:cxn modelId="{615F16A5-92BD-4117-91AA-A766F00B5B88}" type="presOf" srcId="{AB11620A-EC51-4342-9730-5E7FB334D1F1}" destId="{4D712679-1625-431B-9A43-6DD2C100777F}" srcOrd="0" destOrd="0" presId="urn:microsoft.com/office/officeart/2005/8/layout/cycle3"/>
    <dgm:cxn modelId="{471D9EA5-AD97-44A2-B7C1-BC29C74C8D67}" srcId="{FEAAEC97-E913-47BD-AE40-E464E3B5285E}" destId="{D7568A91-9EA5-4112-B671-5D5B311F94FE}" srcOrd="0" destOrd="0" parTransId="{E47C2F95-09F7-4DFD-B4D5-86D2C0F0A331}" sibTransId="{89FF5394-CD2C-4829-842D-6E8F4FA87BC0}"/>
    <dgm:cxn modelId="{EFB87CD8-D839-4F32-83F1-6A8A4651DF7F}" type="presOf" srcId="{37FC69D6-CACA-4790-B4BD-D46CA3BC7A2A}" destId="{7A61D0D1-42F9-4970-A485-8277325190B6}" srcOrd="0" destOrd="0" presId="urn:microsoft.com/office/officeart/2005/8/layout/cycle3"/>
    <dgm:cxn modelId="{435A10F2-0616-4264-86DB-1E649A19995B}" srcId="{FEAAEC97-E913-47BD-AE40-E464E3B5285E}" destId="{94805B62-6481-4B37-AB99-5F80504DD2C4}" srcOrd="4" destOrd="0" parTransId="{848A8679-BEDC-4B8C-ABF4-EA1A670329FD}" sibTransId="{5C63F689-CD83-4EEB-B453-58C181FE4F1A}"/>
    <dgm:cxn modelId="{70578DA1-04B1-48F2-8CA3-25858C133A2D}" type="presParOf" srcId="{FBAF3D7A-095E-43B5-AA6B-70FE66B547EE}" destId="{60012BFA-992F-456A-A9D3-0E3AAEE20501}" srcOrd="0" destOrd="0" presId="urn:microsoft.com/office/officeart/2005/8/layout/cycle3"/>
    <dgm:cxn modelId="{A5B75308-0656-4732-BB59-62727C249F59}" type="presParOf" srcId="{60012BFA-992F-456A-A9D3-0E3AAEE20501}" destId="{6D4920D6-C93C-4C33-A21A-2F73FFACD8CE}" srcOrd="0" destOrd="0" presId="urn:microsoft.com/office/officeart/2005/8/layout/cycle3"/>
    <dgm:cxn modelId="{1C596B16-4721-49EE-8CD0-8B494D1DC038}" type="presParOf" srcId="{60012BFA-992F-456A-A9D3-0E3AAEE20501}" destId="{254FEAD4-1606-43D0-8EC8-E2917B272A4C}" srcOrd="1" destOrd="0" presId="urn:microsoft.com/office/officeart/2005/8/layout/cycle3"/>
    <dgm:cxn modelId="{95184C54-11D9-430F-AD2F-438A5C3379B2}" type="presParOf" srcId="{60012BFA-992F-456A-A9D3-0E3AAEE20501}" destId="{7BEB5946-37D2-48F2-8497-76BCDB5CD580}" srcOrd="2" destOrd="0" presId="urn:microsoft.com/office/officeart/2005/8/layout/cycle3"/>
    <dgm:cxn modelId="{9778C852-C85D-44A5-9CD6-787AEA6CD336}" type="presParOf" srcId="{60012BFA-992F-456A-A9D3-0E3AAEE20501}" destId="{4D712679-1625-431B-9A43-6DD2C100777F}" srcOrd="3" destOrd="0" presId="urn:microsoft.com/office/officeart/2005/8/layout/cycle3"/>
    <dgm:cxn modelId="{917380E6-0F5F-4130-9A90-CDDE1F6AF809}" type="presParOf" srcId="{60012BFA-992F-456A-A9D3-0E3AAEE20501}" destId="{7A61D0D1-42F9-4970-A485-8277325190B6}" srcOrd="4" destOrd="0" presId="urn:microsoft.com/office/officeart/2005/8/layout/cycle3"/>
    <dgm:cxn modelId="{5157421A-7676-4530-807B-CC543E4CD9F0}" type="presParOf" srcId="{60012BFA-992F-456A-A9D3-0E3AAEE20501}" destId="{A534265D-3401-4B38-8A0A-752061CE8D5C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FEAD4-1606-43D0-8EC8-E2917B272A4C}">
      <dsp:nvSpPr>
        <dsp:cNvPr id="0" name=""/>
        <dsp:cNvSpPr/>
      </dsp:nvSpPr>
      <dsp:spPr>
        <a:xfrm>
          <a:off x="921302" y="-21825"/>
          <a:ext cx="4073737" cy="4073737"/>
        </a:xfrm>
        <a:prstGeom prst="circularArrow">
          <a:avLst>
            <a:gd name="adj1" fmla="val 5544"/>
            <a:gd name="adj2" fmla="val 330680"/>
            <a:gd name="adj3" fmla="val 13822554"/>
            <a:gd name="adj4" fmla="val 17357651"/>
            <a:gd name="adj5" fmla="val 5757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4920D6-C93C-4C33-A21A-2F73FFACD8CE}">
      <dsp:nvSpPr>
        <dsp:cNvPr id="0" name=""/>
        <dsp:cNvSpPr/>
      </dsp:nvSpPr>
      <dsp:spPr>
        <a:xfrm>
          <a:off x="2023631" y="1563"/>
          <a:ext cx="1869078" cy="9345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POPULATION MONDIALE 2017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7.55 B</a:t>
          </a:r>
        </a:p>
      </dsp:txBody>
      <dsp:txXfrm>
        <a:off x="2069251" y="47183"/>
        <a:ext cx="1777838" cy="843299"/>
      </dsp:txXfrm>
    </dsp:sp>
    <dsp:sp modelId="{EA4D5923-B051-4148-ADBB-2414EFC43749}">
      <dsp:nvSpPr>
        <dsp:cNvPr id="0" name=""/>
        <dsp:cNvSpPr/>
      </dsp:nvSpPr>
      <dsp:spPr>
        <a:xfrm>
          <a:off x="3675808" y="1201940"/>
          <a:ext cx="1869078" cy="9345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DISPONIBILITE Kcal/pers/jour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2 500</a:t>
          </a:r>
        </a:p>
      </dsp:txBody>
      <dsp:txXfrm>
        <a:off x="3721428" y="1247560"/>
        <a:ext cx="1777838" cy="843299"/>
      </dsp:txXfrm>
    </dsp:sp>
    <dsp:sp modelId="{34D2E5D8-E46C-45A1-BDB6-A281EFF0ECCC}">
      <dsp:nvSpPr>
        <dsp:cNvPr id="0" name=""/>
        <dsp:cNvSpPr/>
      </dsp:nvSpPr>
      <dsp:spPr>
        <a:xfrm>
          <a:off x="3044733" y="3144190"/>
          <a:ext cx="1869078" cy="9345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BESOIN POPULATION Kcal/jour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18 875 B</a:t>
          </a:r>
          <a:endParaRPr lang="fr-FR" sz="1400" b="1" kern="1200" dirty="0"/>
        </a:p>
      </dsp:txBody>
      <dsp:txXfrm>
        <a:off x="3090353" y="3189810"/>
        <a:ext cx="1777838" cy="843299"/>
      </dsp:txXfrm>
    </dsp:sp>
    <dsp:sp modelId="{7A61D0D1-42F9-4970-A485-8277325190B6}">
      <dsp:nvSpPr>
        <dsp:cNvPr id="0" name=""/>
        <dsp:cNvSpPr/>
      </dsp:nvSpPr>
      <dsp:spPr>
        <a:xfrm>
          <a:off x="1002530" y="3144190"/>
          <a:ext cx="1869078" cy="93453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DISPONIBILITÉ TOTALE Kcal/jour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20 918 B</a:t>
          </a:r>
        </a:p>
      </dsp:txBody>
      <dsp:txXfrm>
        <a:off x="1048150" y="3189810"/>
        <a:ext cx="1777838" cy="843299"/>
      </dsp:txXfrm>
    </dsp:sp>
    <dsp:sp modelId="{A534265D-3401-4B38-8A0A-752061CE8D5C}">
      <dsp:nvSpPr>
        <dsp:cNvPr id="0" name=""/>
        <dsp:cNvSpPr/>
      </dsp:nvSpPr>
      <dsp:spPr>
        <a:xfrm>
          <a:off x="371454" y="1201940"/>
          <a:ext cx="1869078" cy="934539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>
              <a:solidFill>
                <a:schemeClr val="accent6">
                  <a:lumMod val="50000"/>
                </a:schemeClr>
              </a:solidFill>
            </a:rPr>
            <a:t>EXCEDENT</a:t>
          </a:r>
          <a:r>
            <a:rPr lang="fr-FR" sz="1100" kern="1200" dirty="0">
              <a:solidFill>
                <a:schemeClr val="accent6">
                  <a:lumMod val="50000"/>
                </a:schemeClr>
              </a:solidFill>
            </a:rPr>
            <a:t> </a:t>
          </a:r>
          <a:r>
            <a:rPr lang="fr-FR" sz="1400" b="0" kern="1200" dirty="0">
              <a:solidFill>
                <a:schemeClr val="accent6">
                  <a:lumMod val="50000"/>
                </a:schemeClr>
              </a:solidFill>
            </a:rPr>
            <a:t>+ 11% 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solidFill>
                <a:schemeClr val="accent6">
                  <a:lumMod val="50000"/>
                </a:schemeClr>
              </a:solidFill>
            </a:rPr>
            <a:t>8.37 B</a:t>
          </a:r>
        </a:p>
      </dsp:txBody>
      <dsp:txXfrm>
        <a:off x="417074" y="1247560"/>
        <a:ext cx="1777838" cy="843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4FEAD4-1606-43D0-8EC8-E2917B272A4C}">
      <dsp:nvSpPr>
        <dsp:cNvPr id="0" name=""/>
        <dsp:cNvSpPr/>
      </dsp:nvSpPr>
      <dsp:spPr>
        <a:xfrm>
          <a:off x="958037" y="-20869"/>
          <a:ext cx="3992375" cy="3992375"/>
        </a:xfrm>
        <a:prstGeom prst="circularArrow">
          <a:avLst>
            <a:gd name="adj1" fmla="val 5544"/>
            <a:gd name="adj2" fmla="val 330680"/>
            <a:gd name="adj3" fmla="val 13822287"/>
            <a:gd name="adj4" fmla="val 17357813"/>
            <a:gd name="adj5" fmla="val 5757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D4920D6-C93C-4C33-A21A-2F73FFACD8CE}">
      <dsp:nvSpPr>
        <dsp:cNvPr id="0" name=""/>
        <dsp:cNvSpPr/>
      </dsp:nvSpPr>
      <dsp:spPr>
        <a:xfrm>
          <a:off x="2038242" y="2064"/>
          <a:ext cx="1831966" cy="9159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POPULATION MONDIALE 2017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7.55 B</a:t>
          </a:r>
        </a:p>
      </dsp:txBody>
      <dsp:txXfrm>
        <a:off x="2082957" y="46779"/>
        <a:ext cx="1742536" cy="826553"/>
      </dsp:txXfrm>
    </dsp:sp>
    <dsp:sp modelId="{7BEB5946-37D2-48F2-8497-76BCDB5CD580}">
      <dsp:nvSpPr>
        <dsp:cNvPr id="0" name=""/>
        <dsp:cNvSpPr/>
      </dsp:nvSpPr>
      <dsp:spPr>
        <a:xfrm>
          <a:off x="3657421" y="1178467"/>
          <a:ext cx="1831966" cy="9159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BESOIN POPULATION Kcal/jour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18 875 B</a:t>
          </a:r>
        </a:p>
      </dsp:txBody>
      <dsp:txXfrm>
        <a:off x="3702136" y="1223182"/>
        <a:ext cx="1742536" cy="826553"/>
      </dsp:txXfrm>
    </dsp:sp>
    <dsp:sp modelId="{4D712679-1625-431B-9A43-6DD2C100777F}">
      <dsp:nvSpPr>
        <dsp:cNvPr id="0" name=""/>
        <dsp:cNvSpPr/>
      </dsp:nvSpPr>
      <dsp:spPr>
        <a:xfrm>
          <a:off x="3038950" y="3081926"/>
          <a:ext cx="1831966" cy="9159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kern="1200" dirty="0"/>
            <a:t>DISPONIBILITE Kcal/jour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/>
            <a:t>17 260 B</a:t>
          </a:r>
        </a:p>
      </dsp:txBody>
      <dsp:txXfrm>
        <a:off x="3083665" y="3126641"/>
        <a:ext cx="1742536" cy="826553"/>
      </dsp:txXfrm>
    </dsp:sp>
    <dsp:sp modelId="{7A61D0D1-42F9-4970-A485-8277325190B6}">
      <dsp:nvSpPr>
        <dsp:cNvPr id="0" name=""/>
        <dsp:cNvSpPr/>
      </dsp:nvSpPr>
      <dsp:spPr>
        <a:xfrm>
          <a:off x="1037534" y="3081926"/>
          <a:ext cx="1831966" cy="915983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/>
            <a:t>COUVERTURE DE LA POPULATION REELE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dirty="0"/>
            <a:t>91.4 %</a:t>
          </a:r>
          <a:endParaRPr lang="fr-FR" sz="3200" b="1" kern="1200" dirty="0"/>
        </a:p>
      </dsp:txBody>
      <dsp:txXfrm>
        <a:off x="1082249" y="3126641"/>
        <a:ext cx="1742536" cy="826553"/>
      </dsp:txXfrm>
    </dsp:sp>
    <dsp:sp modelId="{A534265D-3401-4B38-8A0A-752061CE8D5C}">
      <dsp:nvSpPr>
        <dsp:cNvPr id="0" name=""/>
        <dsp:cNvSpPr/>
      </dsp:nvSpPr>
      <dsp:spPr>
        <a:xfrm>
          <a:off x="419063" y="1178467"/>
          <a:ext cx="1831966" cy="915983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solidFill>
            <a:schemeClr val="accent6">
              <a:lumMod val="60000"/>
              <a:lumOff val="40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0" i="0" kern="1200" dirty="0">
              <a:solidFill>
                <a:schemeClr val="accent6">
                  <a:lumMod val="50000"/>
                </a:schemeClr>
              </a:solidFill>
            </a:rPr>
            <a:t>NOMBRE THEORIQUE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dirty="0">
              <a:solidFill>
                <a:schemeClr val="accent6">
                  <a:lumMod val="50000"/>
                </a:schemeClr>
              </a:solidFill>
            </a:rPr>
            <a:t>6.90 B</a:t>
          </a:r>
          <a:endParaRPr lang="fr-FR" sz="2000" b="1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463778" y="1223182"/>
        <a:ext cx="1742536" cy="826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942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9816-AAD1-42E1-CEC3-F414733E4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A37AC-6B89-178C-8418-570CCEDC1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225F9-DD38-66CB-9407-31D597D5B9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87302-385B-D014-B50B-859EAC74D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3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39C12"/>
                </a:solidFill>
                <a:latin typeface="Arial" pitchFamily="34" charset="0"/>
                <a:cs typeface="Arial" pitchFamily="34" charset="-120"/>
              </a:rPr>
              <a:t>ÉTUDE SUR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L'ALIMENTATION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MONDE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70297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altLang="fr-F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FAOSTAT (2013-2018) – Bilan Alimentaire Mondial </a:t>
            </a:r>
            <a:r>
              <a:rPr lang="en-US" sz="14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B827E3-A10E-F0AE-533D-7A3F80DC7E99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12">
            <a:extLst>
              <a:ext uri="{FF2B5EF4-FFF2-40B4-BE49-F238E27FC236}">
                <a16:creationId xmlns:a16="http://schemas.microsoft.com/office/drawing/2014/main" id="{DC772201-6620-4D3A-60E5-ABD075545BD6}"/>
              </a:ext>
            </a:extLst>
          </p:cNvPr>
          <p:cNvSpPr/>
          <p:nvPr/>
        </p:nvSpPr>
        <p:spPr>
          <a:xfrm>
            <a:off x="0" y="761522"/>
            <a:ext cx="9144000" cy="365760"/>
          </a:xfrm>
          <a:prstGeom prst="rect">
            <a:avLst/>
          </a:prstGeom>
          <a:solidFill>
            <a:srgbClr val="0070C0"/>
          </a:solidFill>
          <a:ln/>
        </p:spPr>
        <p:txBody>
          <a:bodyPr/>
          <a:lstStyle/>
          <a:p>
            <a:pPr algn="ctr"/>
            <a:r>
              <a:rPr lang="fr-FR" altLang="fr-F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Évaluer l’utilisation de la disponibilité mondiale sur la nutrition et sécurité alimentaire</a:t>
            </a:r>
            <a:endParaRPr lang="fr-FR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6229"/>
            <a:ext cx="9144000" cy="770474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0099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spécification des données - </a:t>
            </a:r>
            <a:r>
              <a:rPr lang="fr-FR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RGPD respecté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fr-F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02D1A00F-393C-DCA3-8275-E8A65D302E7E}"/>
              </a:ext>
            </a:extLst>
          </p:cNvPr>
          <p:cNvSpPr txBox="1"/>
          <p:nvPr/>
        </p:nvSpPr>
        <p:spPr>
          <a:xfrm>
            <a:off x="8573703" y="4513404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/>
              <a:t>2</a:t>
            </a: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69A21944-9009-0F66-0D7C-F82997A81957}"/>
              </a:ext>
            </a:extLst>
          </p:cNvPr>
          <p:cNvSpPr/>
          <p:nvPr/>
        </p:nvSpPr>
        <p:spPr>
          <a:xfrm>
            <a:off x="4686300" y="1884263"/>
            <a:ext cx="4000500" cy="20805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KT ou KG /personne/an.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2500 Kcal/personne/jour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altLang="fr-FR" sz="1600" b="1" dirty="0">
                <a:latin typeface="Arial" panose="020B0604020202020204" pitchFamily="34" charset="0"/>
                <a:cs typeface="Arial" panose="020B0604020202020204" pitchFamily="34" charset="0"/>
              </a:rPr>
              <a:t>OUTILS </a:t>
            </a:r>
            <a:endParaRPr lang="fr-FR" altLang="fr-F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altLang="fr-FR" sz="16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Traitement, agrégations </a:t>
            </a:r>
          </a:p>
          <a:p>
            <a:pPr algn="ctr"/>
            <a:r>
              <a:rPr lang="fr-FR" altLang="fr-FR" sz="1600" u="sng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Plotly</a:t>
            </a: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visualisations</a:t>
            </a:r>
          </a:p>
        </p:txBody>
      </p:sp>
      <p:sp>
        <p:nvSpPr>
          <p:cNvPr id="86" name="Rectangle : coins arrondis 85">
            <a:extLst>
              <a:ext uri="{FF2B5EF4-FFF2-40B4-BE49-F238E27FC236}">
                <a16:creationId xmlns:a16="http://schemas.microsoft.com/office/drawing/2014/main" id="{B04ADD09-28A8-4635-D49A-B1FD658137A0}"/>
              </a:ext>
            </a:extLst>
          </p:cNvPr>
          <p:cNvSpPr/>
          <p:nvPr/>
        </p:nvSpPr>
        <p:spPr>
          <a:xfrm>
            <a:off x="457198" y="1884264"/>
            <a:ext cx="4000500" cy="20805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fr-FR" altLang="fr-FR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NETTOYAGE </a:t>
            </a:r>
          </a:p>
          <a:p>
            <a:pPr algn="ctr"/>
            <a:endParaRPr lang="fr-FR" altLang="fr-FR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altLang="fr-FR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Standardisation des données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1600" dirty="0">
                <a:latin typeface="Arial" panose="020B0604020202020204" pitchFamily="34" charset="0"/>
                <a:cs typeface="Arial" panose="020B0604020202020204" pitchFamily="34" charset="0"/>
              </a:rPr>
              <a:t>Conversion /création de variables</a:t>
            </a:r>
            <a:endParaRPr lang="fr-FR" altLang="fr-FR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altLang="fr-FR" sz="1600" dirty="0">
                <a:latin typeface="Arial" panose="020B0604020202020204" pitchFamily="34" charset="0"/>
                <a:cs typeface="Arial" panose="020B0604020202020204" pitchFamily="34" charset="0"/>
              </a:rPr>
              <a:t>Ajustement statistique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altLang="fr-FR" sz="1600" dirty="0">
                <a:latin typeface="Arial" panose="020B0604020202020204" pitchFamily="34" charset="0"/>
                <a:cs typeface="Arial" panose="020B0604020202020204" pitchFamily="34" charset="0"/>
              </a:rPr>
              <a:t>Agrégations </a:t>
            </a:r>
            <a:r>
              <a:rPr lang="fr-FR" altLang="fr-FR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fr-FR" altLang="fr-FR" sz="1100" dirty="0" err="1">
                <a:latin typeface="Arial" panose="020B0604020202020204" pitchFamily="34" charset="0"/>
                <a:cs typeface="Arial" panose="020B0604020202020204" pitchFamily="34" charset="0"/>
              </a:rPr>
              <a:t>groupby</a:t>
            </a:r>
            <a:r>
              <a:rPr lang="fr-FR" altLang="fr-FR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3AF7C5B8-0D99-E090-3D7F-507752D02FE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Méthodologie de l'analyse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9D72D9D8-08B1-0322-DD8D-D9A258D90D16}"/>
              </a:ext>
            </a:extLst>
          </p:cNvPr>
          <p:cNvSpPr/>
          <p:nvPr/>
        </p:nvSpPr>
        <p:spPr>
          <a:xfrm>
            <a:off x="3821272" y="2544255"/>
            <a:ext cx="1571774" cy="510480"/>
          </a:xfrm>
          <a:prstGeom prst="roundRect">
            <a:avLst>
              <a:gd name="adj" fmla="val 14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86B727D5-BBDA-C54A-D381-9EBBF94E5E20}"/>
              </a:ext>
            </a:extLst>
          </p:cNvPr>
          <p:cNvSpPr/>
          <p:nvPr/>
        </p:nvSpPr>
        <p:spPr>
          <a:xfrm>
            <a:off x="712875" y="1534605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277884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95A21FB4-1689-A7FB-C723-59DC06D230DB}"/>
              </a:ext>
            </a:extLst>
          </p:cNvPr>
          <p:cNvSpPr/>
          <p:nvPr/>
        </p:nvSpPr>
        <p:spPr>
          <a:xfrm>
            <a:off x="996568" y="1620493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BF0E81BE-1440-434E-E922-2AE3C7D51608}"/>
              </a:ext>
            </a:extLst>
          </p:cNvPr>
          <p:cNvSpPr/>
          <p:nvPr/>
        </p:nvSpPr>
        <p:spPr>
          <a:xfrm>
            <a:off x="394978" y="2525205"/>
            <a:ext cx="1397794" cy="510480"/>
          </a:xfrm>
          <a:prstGeom prst="roundRect">
            <a:avLst>
              <a:gd name="adj" fmla="val 14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8D3E487A-43FF-DA8E-367F-763F4CFDB05D}"/>
              </a:ext>
            </a:extLst>
          </p:cNvPr>
          <p:cNvSpPr/>
          <p:nvPr/>
        </p:nvSpPr>
        <p:spPr>
          <a:xfrm>
            <a:off x="536448" y="2677605"/>
            <a:ext cx="111485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BB141138-E546-073B-8C24-D530D6ABD3E5}"/>
              </a:ext>
            </a:extLst>
          </p:cNvPr>
          <p:cNvSpPr/>
          <p:nvPr/>
        </p:nvSpPr>
        <p:spPr>
          <a:xfrm>
            <a:off x="381000" y="3175890"/>
            <a:ext cx="1425750" cy="119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fichiers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CSV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venant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site FAOSTAT</a:t>
            </a:r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C32D3311-653A-728C-D47E-4B61C060D8FC}"/>
              </a:ext>
            </a:extLst>
          </p:cNvPr>
          <p:cNvSpPr/>
          <p:nvPr/>
        </p:nvSpPr>
        <p:spPr>
          <a:xfrm>
            <a:off x="1849922" y="1860553"/>
            <a:ext cx="285750" cy="1905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F4CD799E-5F84-0220-9F0E-42FA94BFDA28}"/>
              </a:ext>
            </a:extLst>
          </p:cNvPr>
          <p:cNvSpPr/>
          <p:nvPr/>
        </p:nvSpPr>
        <p:spPr>
          <a:xfrm>
            <a:off x="2415469" y="1534605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5EA8A7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5A5F7B4C-2715-16D6-CE80-15ACFC134777}"/>
              </a:ext>
            </a:extLst>
          </p:cNvPr>
          <p:cNvSpPr/>
          <p:nvPr/>
        </p:nvSpPr>
        <p:spPr>
          <a:xfrm>
            <a:off x="2699162" y="16204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C3BA40CF-01D0-F725-1B9E-243ADF4E9FD2}"/>
              </a:ext>
            </a:extLst>
          </p:cNvPr>
          <p:cNvSpPr/>
          <p:nvPr/>
        </p:nvSpPr>
        <p:spPr>
          <a:xfrm>
            <a:off x="2097572" y="2525205"/>
            <a:ext cx="1397794" cy="510480"/>
          </a:xfrm>
          <a:prstGeom prst="roundRect">
            <a:avLst>
              <a:gd name="adj" fmla="val 14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45958E1E-9D1D-60A9-351B-76E75687E287}"/>
              </a:ext>
            </a:extLst>
          </p:cNvPr>
          <p:cNvSpPr/>
          <p:nvPr/>
        </p:nvSpPr>
        <p:spPr>
          <a:xfrm>
            <a:off x="4096299" y="2696655"/>
            <a:ext cx="111485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Jointure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6CED45F3-AE72-E4E0-FFBC-56CBA4D5B77F}"/>
              </a:ext>
            </a:extLst>
          </p:cNvPr>
          <p:cNvSpPr/>
          <p:nvPr/>
        </p:nvSpPr>
        <p:spPr>
          <a:xfrm>
            <a:off x="3916995" y="3175890"/>
            <a:ext cx="1425750" cy="119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Enrichir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les analyses</a:t>
            </a:r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F18C5637-97DB-FB73-7068-331FA7F7704C}"/>
              </a:ext>
            </a:extLst>
          </p:cNvPr>
          <p:cNvSpPr/>
          <p:nvPr/>
        </p:nvSpPr>
        <p:spPr>
          <a:xfrm>
            <a:off x="3552516" y="1860553"/>
            <a:ext cx="285750" cy="1905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0878146-22D1-5560-4D72-4343C4C86A40}"/>
              </a:ext>
            </a:extLst>
          </p:cNvPr>
          <p:cNvSpPr/>
          <p:nvPr/>
        </p:nvSpPr>
        <p:spPr>
          <a:xfrm>
            <a:off x="4226084" y="1553655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4ECDC4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E7B57F17-CD0B-B717-A45D-CCCBA93219F1}"/>
              </a:ext>
            </a:extLst>
          </p:cNvPr>
          <p:cNvSpPr/>
          <p:nvPr/>
        </p:nvSpPr>
        <p:spPr>
          <a:xfrm>
            <a:off x="4509777" y="163954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334FED54-1343-45BF-8D1E-3ABEF55A34A7}"/>
              </a:ext>
            </a:extLst>
          </p:cNvPr>
          <p:cNvSpPr/>
          <p:nvPr/>
        </p:nvSpPr>
        <p:spPr>
          <a:xfrm>
            <a:off x="5363131" y="1870078"/>
            <a:ext cx="285750" cy="1905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8CCB4737-E443-47FD-E99F-7D72775C18C4}"/>
              </a:ext>
            </a:extLst>
          </p:cNvPr>
          <p:cNvSpPr/>
          <p:nvPr/>
        </p:nvSpPr>
        <p:spPr>
          <a:xfrm>
            <a:off x="5994636" y="1534605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B400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60062475-B9D3-64CD-8219-3A5EADAC620B}"/>
              </a:ext>
            </a:extLst>
          </p:cNvPr>
          <p:cNvSpPr/>
          <p:nvPr/>
        </p:nvSpPr>
        <p:spPr>
          <a:xfrm>
            <a:off x="6278329" y="16204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87752D78-F874-B67A-1547-E951234FF00B}"/>
              </a:ext>
            </a:extLst>
          </p:cNvPr>
          <p:cNvSpPr/>
          <p:nvPr/>
        </p:nvSpPr>
        <p:spPr>
          <a:xfrm>
            <a:off x="5676739" y="2525205"/>
            <a:ext cx="1397794" cy="510480"/>
          </a:xfrm>
          <a:prstGeom prst="roundRect">
            <a:avLst>
              <a:gd name="adj" fmla="val 14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E99A0F42-33A6-D43E-02EC-6D469EADFE1A}"/>
              </a:ext>
            </a:extLst>
          </p:cNvPr>
          <p:cNvSpPr/>
          <p:nvPr/>
        </p:nvSpPr>
        <p:spPr>
          <a:xfrm>
            <a:off x="5818209" y="2677605"/>
            <a:ext cx="111485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0"/>
              </a:lnSpc>
            </a:pP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Analyse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FEBFC311-CE14-F7A6-4089-5BF611053C79}"/>
              </a:ext>
            </a:extLst>
          </p:cNvPr>
          <p:cNvSpPr/>
          <p:nvPr/>
        </p:nvSpPr>
        <p:spPr>
          <a:xfrm>
            <a:off x="5649117" y="3175890"/>
            <a:ext cx="1425750" cy="119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Calculs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</a:p>
          <a:p>
            <a:pPr algn="ctr">
              <a:lnSpc>
                <a:spcPts val="1470"/>
              </a:lnSpc>
            </a:pP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Visualisations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B919645C-9462-D373-BCF5-D9B3A8C64CA4}"/>
              </a:ext>
            </a:extLst>
          </p:cNvPr>
          <p:cNvSpPr/>
          <p:nvPr/>
        </p:nvSpPr>
        <p:spPr>
          <a:xfrm>
            <a:off x="7131683" y="1860553"/>
            <a:ext cx="285750" cy="1905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8EB234E9-F2AE-9A21-592F-1880D10C88FF}"/>
              </a:ext>
            </a:extLst>
          </p:cNvPr>
          <p:cNvSpPr/>
          <p:nvPr/>
        </p:nvSpPr>
        <p:spPr>
          <a:xfrm>
            <a:off x="7697230" y="1534605"/>
            <a:ext cx="762000" cy="762000"/>
          </a:xfrm>
          <a:prstGeom prst="roundRect">
            <a:avLst>
              <a:gd name="adj" fmla="val 120000"/>
            </a:avLst>
          </a:prstGeom>
          <a:solidFill>
            <a:srgbClr val="FF6B6B"/>
          </a:solidFill>
          <a:ln/>
          <a:effectLst>
            <a:outerShdw blurRad="76200" dist="19050" dir="5400000" algn="bl" rotWithShape="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07DBFEB3-5FD3-8690-575C-11AED20B77C1}"/>
              </a:ext>
            </a:extLst>
          </p:cNvPr>
          <p:cNvSpPr/>
          <p:nvPr/>
        </p:nvSpPr>
        <p:spPr>
          <a:xfrm>
            <a:off x="7980923" y="1620495"/>
            <a:ext cx="1946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78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DAC237BC-1E37-FEBE-19A5-87A0E5115B1A}"/>
              </a:ext>
            </a:extLst>
          </p:cNvPr>
          <p:cNvSpPr/>
          <p:nvPr/>
        </p:nvSpPr>
        <p:spPr>
          <a:xfrm>
            <a:off x="7379333" y="2525205"/>
            <a:ext cx="1397794" cy="510480"/>
          </a:xfrm>
          <a:prstGeom prst="roundRect">
            <a:avLst>
              <a:gd name="adj" fmla="val 149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 28">
            <a:extLst>
              <a:ext uri="{FF2B5EF4-FFF2-40B4-BE49-F238E27FC236}">
                <a16:creationId xmlns:a16="http://schemas.microsoft.com/office/drawing/2014/main" id="{EDA86742-4FA8-1EA4-DC6E-238AF9D0A9F7}"/>
              </a:ext>
            </a:extLst>
          </p:cNvPr>
          <p:cNvSpPr/>
          <p:nvPr/>
        </p:nvSpPr>
        <p:spPr>
          <a:xfrm>
            <a:off x="7520803" y="2677605"/>
            <a:ext cx="111485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Insights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26C5B892-25C0-8E78-8692-19C0B8F0D817}"/>
              </a:ext>
            </a:extLst>
          </p:cNvPr>
          <p:cNvSpPr/>
          <p:nvPr/>
        </p:nvSpPr>
        <p:spPr>
          <a:xfrm>
            <a:off x="7365355" y="3175890"/>
            <a:ext cx="1425750" cy="119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11 analyses </a:t>
            </a:r>
          </a:p>
          <a:p>
            <a:pPr algn="ctr">
              <a:lnSpc>
                <a:spcPts val="147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2E1775B8-9529-05D1-2EF8-BCA72487F667}"/>
              </a:ext>
            </a:extLst>
          </p:cNvPr>
          <p:cNvSpPr/>
          <p:nvPr/>
        </p:nvSpPr>
        <p:spPr>
          <a:xfrm>
            <a:off x="2299853" y="2690148"/>
            <a:ext cx="111485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620"/>
              </a:lnSpc>
            </a:pP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Trebuchet MS" pitchFamily="34" charset="-122"/>
                <a:cs typeface="Arial" panose="020B0604020202020204" pitchFamily="34" charset="0"/>
              </a:rPr>
              <a:t>Nettoyage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9526761B-B0C1-B827-9393-DCC1E2A9F42B}"/>
              </a:ext>
            </a:extLst>
          </p:cNvPr>
          <p:cNvSpPr/>
          <p:nvPr/>
        </p:nvSpPr>
        <p:spPr>
          <a:xfrm>
            <a:off x="2126765" y="2989971"/>
            <a:ext cx="1483857" cy="119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</a:pP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Standardisation,Conversions</a:t>
            </a:r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agrégations</a:t>
            </a:r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FA76CC66-EDA5-6100-6E8F-11B7F2872CE9}"/>
              </a:ext>
            </a:extLst>
          </p:cNvPr>
          <p:cNvSpPr/>
          <p:nvPr/>
        </p:nvSpPr>
        <p:spPr>
          <a:xfrm>
            <a:off x="5377011" y="1870005"/>
            <a:ext cx="285750" cy="19050"/>
          </a:xfrm>
          <a:prstGeom prst="rect">
            <a:avLst/>
          </a:prstGeom>
          <a:solidFill>
            <a:srgbClr val="95A5A6"/>
          </a:solidFill>
          <a:ln/>
        </p:spPr>
        <p:txBody>
          <a:bodyPr wrap="square" rtlCol="0" anchor="ctr"/>
          <a:lstStyle/>
          <a:p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8B5AE3B-063E-B4BD-6402-09C75D1FEEC3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">
            <a:extLst>
              <a:ext uri="{FF2B5EF4-FFF2-40B4-BE49-F238E27FC236}">
                <a16:creationId xmlns:a16="http://schemas.microsoft.com/office/drawing/2014/main" id="{9C53D742-AA6E-E65C-C9C0-5FC395C1544E}"/>
              </a:ext>
            </a:extLst>
          </p:cNvPr>
          <p:cNvSpPr/>
          <p:nvPr/>
        </p:nvSpPr>
        <p:spPr>
          <a:xfrm>
            <a:off x="918024" y="1208454"/>
            <a:ext cx="2410646" cy="152383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pPr algn="ctr"/>
            <a:endParaRPr 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7.55 B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 Mondiale </a:t>
            </a:r>
          </a:p>
          <a:p>
            <a:pPr algn="ctr"/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EE24039E-4DD6-4261-4809-44B7D90D918C}"/>
              </a:ext>
            </a:extLst>
          </p:cNvPr>
          <p:cNvSpPr/>
          <p:nvPr/>
        </p:nvSpPr>
        <p:spPr>
          <a:xfrm>
            <a:off x="5234754" y="1219200"/>
            <a:ext cx="2410646" cy="152383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Proportion de personnes en état de sous-nutrition en 2017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234754" y="1351834"/>
            <a:ext cx="2410646" cy="5079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535.7 M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34754" y="1816796"/>
            <a:ext cx="2410646" cy="253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 sous nutrition</a:t>
            </a:r>
          </a:p>
        </p:txBody>
      </p:sp>
      <p:sp>
        <p:nvSpPr>
          <p:cNvPr id="7" name="Shape 5"/>
          <p:cNvSpPr/>
          <p:nvPr/>
        </p:nvSpPr>
        <p:spPr>
          <a:xfrm>
            <a:off x="5234754" y="2277414"/>
            <a:ext cx="2410646" cy="465615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34754" y="2277414"/>
            <a:ext cx="2410646" cy="465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7%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605407" y="3291602"/>
            <a:ext cx="33655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 personne sur 14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205479" y="3960700"/>
            <a:ext cx="271411" cy="271698"/>
          </a:xfrm>
          <a:prstGeom prst="ellipse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52551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4555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16559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48563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80567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125719" y="396070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320547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52551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84555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16559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48563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80567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125719" y="4280740"/>
            <a:ext cx="271411" cy="271698"/>
          </a:xfrm>
          <a:prstGeom prst="ellipse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3078D8-6276-C3BE-A0F4-163EDE1EAB42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4</a:t>
            </a: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E747BD02-67CD-7EFB-9308-D6CF41BB286A}"/>
              </a:ext>
            </a:extLst>
          </p:cNvPr>
          <p:cNvSpPr/>
          <p:nvPr/>
        </p:nvSpPr>
        <p:spPr>
          <a:xfrm>
            <a:off x="918024" y="2266668"/>
            <a:ext cx="2410646" cy="46561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C60B7F12-C783-8AD2-6D78-92F04985A7D1}"/>
              </a:ext>
            </a:extLst>
          </p:cNvPr>
          <p:cNvSpPr/>
          <p:nvPr/>
        </p:nvSpPr>
        <p:spPr>
          <a:xfrm>
            <a:off x="918024" y="2266668"/>
            <a:ext cx="2410646" cy="46561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100%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476E9896-71D1-4EE4-C6EC-2531F2B0B3EE}"/>
              </a:ext>
            </a:extLst>
          </p:cNvPr>
          <p:cNvCxnSpPr>
            <a:cxnSpLocks/>
          </p:cNvCxnSpPr>
          <p:nvPr/>
        </p:nvCxnSpPr>
        <p:spPr>
          <a:xfrm flipV="1">
            <a:off x="4045398" y="1921074"/>
            <a:ext cx="707571" cy="12534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5FD2C40C-EC14-57E1-F01D-7126381C4ADA}"/>
              </a:ext>
            </a:extLst>
          </p:cNvPr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33578AB-B41E-A779-06AF-4ED7C033FE8C}"/>
              </a:ext>
            </a:extLst>
          </p:cNvPr>
          <p:cNvSpPr txBox="1"/>
          <p:nvPr/>
        </p:nvSpPr>
        <p:spPr>
          <a:xfrm>
            <a:off x="397887" y="161895"/>
            <a:ext cx="9047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 théorique de personnes qui pourraient être nourries en 2017</a:t>
            </a:r>
          </a:p>
        </p:txBody>
      </p:sp>
      <p:graphicFrame>
        <p:nvGraphicFramePr>
          <p:cNvPr id="32" name="Diagramme 31">
            <a:extLst>
              <a:ext uri="{FF2B5EF4-FFF2-40B4-BE49-F238E27FC236}">
                <a16:creationId xmlns:a16="http://schemas.microsoft.com/office/drawing/2014/main" id="{80FCE263-EBFD-3411-6DC5-90BE23FBCA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626965"/>
              </p:ext>
            </p:extLst>
          </p:nvPr>
        </p:nvGraphicFramePr>
        <p:xfrm>
          <a:off x="1613829" y="952500"/>
          <a:ext cx="5916342" cy="4080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4A7845BF-465B-D21D-FA08-D690B8458ADC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66916A90-C8B8-F089-22D9-CED1688CB72B}"/>
              </a:ext>
            </a:extLst>
          </p:cNvPr>
          <p:cNvSpPr/>
          <p:nvPr/>
        </p:nvSpPr>
        <p:spPr>
          <a:xfrm>
            <a:off x="-1" y="0"/>
            <a:ext cx="9576587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2626"/>
            <a:ext cx="8618929" cy="655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Nombre théorique de personnes qui pourraient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être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nourries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uniquement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avec les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végétaux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2017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EB62307A-4414-7BD9-AC22-2BE3E48D4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6655798"/>
              </p:ext>
            </p:extLst>
          </p:nvPr>
        </p:nvGraphicFramePr>
        <p:xfrm>
          <a:off x="1617774" y="949098"/>
          <a:ext cx="5908451" cy="39999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ZoneTexte 1">
            <a:extLst>
              <a:ext uri="{FF2B5EF4-FFF2-40B4-BE49-F238E27FC236}">
                <a16:creationId xmlns:a16="http://schemas.microsoft.com/office/drawing/2014/main" id="{E2342009-3DA8-B9C4-2A7E-841E09AEF387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4493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Répartition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de la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disponibilité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intérieure</a:t>
            </a: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– </a:t>
            </a:r>
            <a:r>
              <a:rPr lang="en-US" sz="2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9 848 B </a:t>
            </a:r>
            <a:r>
              <a:rPr lang="en-US" sz="2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de </a:t>
            </a:r>
            <a:r>
              <a:rPr lang="en-US" sz="20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tonnes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005966025"/>
              </p:ext>
            </p:extLst>
          </p:nvPr>
        </p:nvGraphicFramePr>
        <p:xfrm>
          <a:off x="344103" y="548640"/>
          <a:ext cx="7237797" cy="4344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77327C8B-1FB2-05CC-334A-455BF189C32C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7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00F049D-602E-C3F0-901E-ABC9FC41AF42}"/>
              </a:ext>
            </a:extLst>
          </p:cNvPr>
          <p:cNvSpPr/>
          <p:nvPr/>
        </p:nvSpPr>
        <p:spPr>
          <a:xfrm>
            <a:off x="6478204" y="2477287"/>
            <a:ext cx="2208596" cy="124608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50 % </a:t>
            </a:r>
            <a:r>
              <a:rPr lang="en-US" sz="16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Alimentation humaine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directe</a:t>
            </a:r>
            <a:endParaRPr lang="en-US" sz="16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DC8140D9-A10E-53BA-2CC1-10467FADE9F4}"/>
              </a:ext>
            </a:extLst>
          </p:cNvPr>
          <p:cNvSpPr/>
          <p:nvPr/>
        </p:nvSpPr>
        <p:spPr>
          <a:xfrm>
            <a:off x="6478203" y="993717"/>
            <a:ext cx="2208597" cy="124608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-120"/>
              </a:rPr>
              <a:t>492 B </a:t>
            </a:r>
          </a:p>
          <a:p>
            <a:pPr algn="ctr"/>
            <a:r>
              <a:rPr lang="en-US" sz="1600" dirty="0" err="1">
                <a:latin typeface="Arial" pitchFamily="34" charset="0"/>
                <a:cs typeface="Arial" pitchFamily="34" charset="-120"/>
              </a:rPr>
              <a:t>Tonnes</a:t>
            </a:r>
            <a:r>
              <a:rPr lang="en-US" sz="1600" dirty="0">
                <a:latin typeface="Arial" pitchFamily="34" charset="0"/>
                <a:cs typeface="Arial" pitchFamily="34" charset="-120"/>
              </a:rPr>
              <a:t> de </a:t>
            </a:r>
            <a:r>
              <a:rPr lang="en-US" sz="1600" dirty="0" err="1">
                <a:latin typeface="Arial" pitchFamily="34" charset="0"/>
                <a:cs typeface="Arial" pitchFamily="34" charset="-120"/>
              </a:rPr>
              <a:t>pertes</a:t>
            </a:r>
            <a:r>
              <a:rPr lang="en-US" sz="1600" dirty="0">
                <a:latin typeface="Arial" pitchFamily="34" charset="0"/>
                <a:cs typeface="Arial" pitchFamily="34" charset="-120"/>
              </a:rPr>
              <a:t> 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de l'utilisation des principales céréales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l'alimentation humaine et animale</a:t>
            </a:r>
            <a:endParaRPr lang="en-US" sz="2000" dirty="0"/>
          </a:p>
        </p:txBody>
      </p:sp>
      <p:pic>
        <p:nvPicPr>
          <p:cNvPr id="19" name="Image 18" descr="Une image contenant texte, logiciel, Icône d’ordinateur, Page web&#10;&#10;Le contenu généré par l’IA peut être incorrect.">
            <a:extLst>
              <a:ext uri="{FF2B5EF4-FFF2-40B4-BE49-F238E27FC236}">
                <a16:creationId xmlns:a16="http://schemas.microsoft.com/office/drawing/2014/main" id="{D71FB0D9-FACC-423E-EE93-6E5178DB4B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29" t="54433" r="4124" b="17333"/>
          <a:stretch>
            <a:fillRect/>
          </a:stretch>
        </p:blipFill>
        <p:spPr>
          <a:xfrm>
            <a:off x="207896" y="1399360"/>
            <a:ext cx="8728207" cy="29440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8BCA45E-93BC-201A-7A64-5CA7E0CAE34F}"/>
              </a:ext>
            </a:extLst>
          </p:cNvPr>
          <p:cNvSpPr txBox="1"/>
          <p:nvPr/>
        </p:nvSpPr>
        <p:spPr>
          <a:xfrm>
            <a:off x="8573703" y="4663440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10 pays où la proportion de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personnes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sous-nutrition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 la plus forte en 2017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986456"/>
              </p:ext>
            </p:extLst>
          </p:nvPr>
        </p:nvGraphicFramePr>
        <p:xfrm>
          <a:off x="412496" y="960120"/>
          <a:ext cx="6242304" cy="3947383"/>
        </p:xfrm>
        <a:graphic>
          <a:graphicData uri="http://schemas.openxmlformats.org/drawingml/2006/table">
            <a:tbl>
              <a:tblPr/>
              <a:tblGrid>
                <a:gridCol w="1000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03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Pays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% Population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Personnes (M)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Haïti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48.26%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Corée du Nord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47.19%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Madagascar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41.06%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Libéria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38.28%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Lesotho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38.25%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Tchad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37.96%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Rwanda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35.06%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Mozambique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32.81%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Timor-Leste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32.17%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8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Afghanistan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28.93%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 M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35216" y="979931"/>
            <a:ext cx="1938528" cy="11483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 M</a:t>
            </a:r>
          </a:p>
          <a:p>
            <a:pPr algn="ctr"/>
            <a:r>
              <a:rPr lang="en-US" sz="1600" dirty="0">
                <a:latin typeface="Arial" pitchFamily="34" charset="0"/>
                <a:cs typeface="Arial" pitchFamily="34" charset="-120"/>
              </a:rPr>
              <a:t>De </a:t>
            </a:r>
            <a:r>
              <a:rPr lang="en-US" sz="1600" dirty="0" err="1">
                <a:latin typeface="Arial" pitchFamily="34" charset="0"/>
                <a:cs typeface="Arial" pitchFamily="34" charset="-120"/>
              </a:rPr>
              <a:t>personnes</a:t>
            </a:r>
            <a:r>
              <a:rPr lang="en-US" sz="1600" dirty="0">
                <a:latin typeface="Arial" pitchFamily="34" charset="0"/>
                <a:cs typeface="Arial" pitchFamily="34" charset="-120"/>
              </a:rPr>
              <a:t> </a:t>
            </a:r>
            <a:r>
              <a:rPr lang="en-US" sz="1600" dirty="0" err="1">
                <a:latin typeface="Arial" pitchFamily="34" charset="0"/>
                <a:cs typeface="Arial" pitchFamily="34" charset="-120"/>
              </a:rPr>
              <a:t>en</a:t>
            </a:r>
            <a:r>
              <a:rPr lang="en-US" sz="1600" dirty="0">
                <a:latin typeface="Arial" pitchFamily="34" charset="0"/>
                <a:cs typeface="Arial" pitchFamily="34" charset="-120"/>
              </a:rPr>
              <a:t> sous-nutrition</a:t>
            </a:r>
            <a:endParaRPr lang="en-US" sz="1600" dirty="0"/>
          </a:p>
        </p:txBody>
      </p:sp>
      <p:sp>
        <p:nvSpPr>
          <p:cNvPr id="5" name="Shape 7"/>
          <p:cNvSpPr/>
          <p:nvPr/>
        </p:nvSpPr>
        <p:spPr>
          <a:xfrm>
            <a:off x="6935216" y="2376677"/>
            <a:ext cx="1938528" cy="114833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11 % </a:t>
            </a:r>
          </a:p>
          <a:p>
            <a:pPr algn="ctr"/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De la population </a:t>
            </a:r>
            <a:r>
              <a:rPr lang="en-US" sz="16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 sous-nutrition</a:t>
            </a:r>
            <a:endParaRPr lang="en-US" sz="16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87F7E9B-5E77-09D4-12E1-7D9576ACDA9A}"/>
              </a:ext>
            </a:extLst>
          </p:cNvPr>
          <p:cNvSpPr txBox="1"/>
          <p:nvPr/>
        </p:nvSpPr>
        <p:spPr>
          <a:xfrm>
            <a:off x="8372214" y="4087115"/>
            <a:ext cx="226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9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38FA42-B81D-FB0B-DEF4-DA73DB4969F6}"/>
              </a:ext>
            </a:extLst>
          </p:cNvPr>
          <p:cNvSpPr/>
          <p:nvPr/>
        </p:nvSpPr>
        <p:spPr>
          <a:xfrm>
            <a:off x="6935216" y="3759169"/>
            <a:ext cx="1938528" cy="114833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pPr algn="ctr"/>
            <a:endParaRPr lang="en-US" sz="1000" dirty="0">
              <a:solidFill>
                <a:srgbClr val="00113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en-US" sz="1600" dirty="0" err="1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Différence</a:t>
            </a:r>
            <a:r>
              <a:rPr lang="en-US" sz="1600" dirty="0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avec la </a:t>
            </a:r>
            <a:r>
              <a:rPr lang="en-US" sz="1600" dirty="0" err="1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r>
              <a:rPr lang="en-US" sz="1600" dirty="0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alimentaire</a:t>
            </a:r>
            <a:r>
              <a:rPr lang="en-US" sz="1600" dirty="0">
                <a:solidFill>
                  <a:srgbClr val="001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ABEB4822-88EA-AD45-6681-DDF973B5B2D5}"/>
              </a:ext>
            </a:extLst>
          </p:cNvPr>
          <p:cNvSpPr/>
          <p:nvPr/>
        </p:nvSpPr>
        <p:spPr>
          <a:xfrm>
            <a:off x="0" y="0"/>
            <a:ext cx="9144000" cy="862745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" name="Google Shape;188;p10">
            <a:extLst>
              <a:ext uri="{FF2B5EF4-FFF2-40B4-BE49-F238E27FC236}">
                <a16:creationId xmlns:a16="http://schemas.microsoft.com/office/drawing/2014/main" id="{1179B210-EBD6-4745-A7B1-A6FD118A3930}"/>
              </a:ext>
            </a:extLst>
          </p:cNvPr>
          <p:cNvSpPr txBox="1">
            <a:spLocks/>
          </p:cNvSpPr>
          <p:nvPr/>
        </p:nvSpPr>
        <p:spPr>
          <a:xfrm>
            <a:off x="419140" y="88232"/>
            <a:ext cx="8305720" cy="670052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 10 pays qui ont le plus bénéficié de l’aide alimentaire entre 2013 et 2016</a:t>
            </a:r>
          </a:p>
        </p:txBody>
      </p:sp>
      <p:graphicFrame>
        <p:nvGraphicFramePr>
          <p:cNvPr id="7" name="Graphique 6">
            <a:extLst>
              <a:ext uri="{FF2B5EF4-FFF2-40B4-BE49-F238E27FC236}">
                <a16:creationId xmlns:a16="http://schemas.microsoft.com/office/drawing/2014/main" id="{C1974643-B122-F31D-FFB7-EC0B7B67F3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4460860"/>
              </p:ext>
            </p:extLst>
          </p:nvPr>
        </p:nvGraphicFramePr>
        <p:xfrm>
          <a:off x="280055" y="1041400"/>
          <a:ext cx="8642564" cy="39408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Shape 3">
            <a:extLst>
              <a:ext uri="{FF2B5EF4-FFF2-40B4-BE49-F238E27FC236}">
                <a16:creationId xmlns:a16="http://schemas.microsoft.com/office/drawing/2014/main" id="{0FF4F70E-BD8D-3ACD-FE8D-020EBDCCBBF5}"/>
              </a:ext>
            </a:extLst>
          </p:cNvPr>
          <p:cNvSpPr/>
          <p:nvPr/>
        </p:nvSpPr>
        <p:spPr>
          <a:xfrm>
            <a:off x="6289166" y="1360249"/>
            <a:ext cx="2435694" cy="1319451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0F0381F9-B607-00DA-4A31-898890C697ED}"/>
              </a:ext>
            </a:extLst>
          </p:cNvPr>
          <p:cNvSpPr txBox="1"/>
          <p:nvPr/>
        </p:nvSpPr>
        <p:spPr>
          <a:xfrm>
            <a:off x="6289166" y="1442779"/>
            <a:ext cx="243569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200" b="1">
                <a:solidFill>
                  <a:srgbClr val="F39C12"/>
                </a:solidFill>
              </a:defRPr>
            </a:pPr>
            <a:r>
              <a:rPr lang="fr-FR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mondial distribué</a:t>
            </a:r>
          </a:p>
          <a:p>
            <a:pPr algn="ctr">
              <a:defRPr sz="3200" b="1">
                <a:solidFill>
                  <a:srgbClr val="F39C12"/>
                </a:solidFill>
              </a:defRPr>
            </a:pP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defRPr sz="3200" b="1">
                <a:solidFill>
                  <a:srgbClr val="F39C12"/>
                </a:solidFill>
              </a:defRPr>
            </a:pPr>
            <a:r>
              <a:rPr lang="fr-FR" sz="2000" dirty="0">
                <a:latin typeface="Arial" panose="020B0604020202020204" pitchFamily="34" charset="0"/>
                <a:cs typeface="Arial" panose="020B0604020202020204" pitchFamily="34" charset="0"/>
              </a:rPr>
              <a:t>11 Millions </a:t>
            </a:r>
          </a:p>
          <a:p>
            <a:pPr algn="ctr">
              <a:defRPr sz="3200" b="1">
                <a:solidFill>
                  <a:srgbClr val="F39C12"/>
                </a:solidFill>
              </a:defRPr>
            </a:pPr>
            <a:r>
              <a:rPr lang="fr-F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Tonnes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FA7E8FA-B5FF-07FE-11B9-3224A9DE0272}"/>
              </a:ext>
            </a:extLst>
          </p:cNvPr>
          <p:cNvSpPr txBox="1"/>
          <p:nvPr/>
        </p:nvSpPr>
        <p:spPr>
          <a:xfrm>
            <a:off x="8573703" y="4663440"/>
            <a:ext cx="3489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6704B-B10C-04B9-B488-9B35ECC7D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">
            <a:extLst>
              <a:ext uri="{FF2B5EF4-FFF2-40B4-BE49-F238E27FC236}">
                <a16:creationId xmlns:a16="http://schemas.microsoft.com/office/drawing/2014/main" id="{D3FA0759-4608-A1D2-2669-73D93398B451}"/>
              </a:ext>
            </a:extLst>
          </p:cNvPr>
          <p:cNvSpPr/>
          <p:nvPr/>
        </p:nvSpPr>
        <p:spPr>
          <a:xfrm>
            <a:off x="1285298" y="4502863"/>
            <a:ext cx="6614102" cy="36576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9BA76BE3-A34B-4AB9-01B4-FECE0D97A51C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90495A-C61D-6101-96DC-288324BC5BAF}"/>
              </a:ext>
            </a:extLst>
          </p:cNvPr>
          <p:cNvSpPr/>
          <p:nvPr/>
        </p:nvSpPr>
        <p:spPr>
          <a:xfrm>
            <a:off x="477549" y="37732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Évolution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l'aide alimentaire pour les 5 pays qui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plus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bénéficié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entre 2013 et 2016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B1E4F7-6DB3-6294-5BF4-A88D5D495506}"/>
              </a:ext>
            </a:extLst>
          </p:cNvPr>
          <p:cNvSpPr/>
          <p:nvPr/>
        </p:nvSpPr>
        <p:spPr>
          <a:xfrm>
            <a:off x="1821305" y="4571443"/>
            <a:ext cx="550138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de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l'aide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alimentaire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totale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 pour ces 5 pays</a:t>
            </a:r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15" name="Graphique 14">
            <a:extLst>
              <a:ext uri="{FF2B5EF4-FFF2-40B4-BE49-F238E27FC236}">
                <a16:creationId xmlns:a16="http://schemas.microsoft.com/office/drawing/2014/main" id="{D264B6B2-0F44-F746-1B39-A33CC98FDB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8943373"/>
              </p:ext>
            </p:extLst>
          </p:nvPr>
        </p:nvGraphicFramePr>
        <p:xfrm>
          <a:off x="242501" y="982701"/>
          <a:ext cx="7511611" cy="3566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564D423-80BD-A3C3-DE15-5319513834BD}"/>
              </a:ext>
            </a:extLst>
          </p:cNvPr>
          <p:cNvSpPr txBox="1"/>
          <p:nvPr/>
        </p:nvSpPr>
        <p:spPr>
          <a:xfrm>
            <a:off x="8573702" y="4663440"/>
            <a:ext cx="339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45976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A068830-5421-A878-8AA4-55E28AC95606}"/>
              </a:ext>
            </a:extLst>
          </p:cNvPr>
          <p:cNvSpPr/>
          <p:nvPr/>
        </p:nvSpPr>
        <p:spPr>
          <a:xfrm>
            <a:off x="0" y="-37013"/>
            <a:ext cx="9144000" cy="50292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0FB5009-8A99-0358-8459-1FB6D14EA3DD}"/>
              </a:ext>
            </a:extLst>
          </p:cNvPr>
          <p:cNvSpPr/>
          <p:nvPr/>
        </p:nvSpPr>
        <p:spPr>
          <a:xfrm>
            <a:off x="457200" y="24577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10 pays avec la plus forte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alimentaire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habitant</a:t>
            </a:r>
            <a:endParaRPr lang="en-US" sz="2000" dirty="0"/>
          </a:p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719EA3B4-839C-7302-F03D-B35CB36300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478099"/>
              </p:ext>
            </p:extLst>
          </p:nvPr>
        </p:nvGraphicFramePr>
        <p:xfrm>
          <a:off x="457201" y="693538"/>
          <a:ext cx="6053327" cy="4116211"/>
        </p:xfrm>
        <a:graphic>
          <a:graphicData uri="http://schemas.openxmlformats.org/drawingml/2006/table">
            <a:tbl>
              <a:tblPr/>
              <a:tblGrid>
                <a:gridCol w="10363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5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Pays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kcal/jour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Excès vs seuil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Autriche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3,770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+51%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Belgique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3,737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+49%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Turquie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3,708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+48%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3,682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+47%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Israël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+44%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Irlande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3,602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+44%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Italie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3,578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+43%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Luxembourg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3,540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+42%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Égypte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3,518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+41%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Allemagne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3,503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+40%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3">
            <a:extLst>
              <a:ext uri="{FF2B5EF4-FFF2-40B4-BE49-F238E27FC236}">
                <a16:creationId xmlns:a16="http://schemas.microsoft.com/office/drawing/2014/main" id="{589AAEB8-447F-11C8-DC16-FA19DD14335B}"/>
              </a:ext>
            </a:extLst>
          </p:cNvPr>
          <p:cNvSpPr/>
          <p:nvPr/>
        </p:nvSpPr>
        <p:spPr>
          <a:xfrm>
            <a:off x="6845300" y="1193801"/>
            <a:ext cx="2096569" cy="111668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13659E7-54EA-DF99-6452-B84D098D18A6}"/>
              </a:ext>
            </a:extLst>
          </p:cNvPr>
          <p:cNvSpPr/>
          <p:nvPr/>
        </p:nvSpPr>
        <p:spPr>
          <a:xfrm>
            <a:off x="6845300" y="1286146"/>
            <a:ext cx="2096569" cy="4432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3,625</a:t>
            </a:r>
            <a:endParaRPr lang="en-US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346E530-6C93-4AF1-C0F8-4BCBDF4FA0C6}"/>
              </a:ext>
            </a:extLst>
          </p:cNvPr>
          <p:cNvSpPr/>
          <p:nvPr/>
        </p:nvSpPr>
        <p:spPr>
          <a:xfrm>
            <a:off x="6845299" y="1752141"/>
            <a:ext cx="2096569" cy="33247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Moyenne Kcal/Jour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87F3EEF-4715-B641-F06F-9E34096E022D}"/>
              </a:ext>
            </a:extLst>
          </p:cNvPr>
          <p:cNvSpPr/>
          <p:nvPr/>
        </p:nvSpPr>
        <p:spPr>
          <a:xfrm>
            <a:off x="6845300" y="2576830"/>
            <a:ext cx="2096569" cy="111667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4DED553-8303-9C58-020F-A678161789E1}"/>
              </a:ext>
            </a:extLst>
          </p:cNvPr>
          <p:cNvSpPr/>
          <p:nvPr/>
        </p:nvSpPr>
        <p:spPr>
          <a:xfrm>
            <a:off x="7054849" y="2683195"/>
            <a:ext cx="1677467" cy="443293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+ 45%</a:t>
            </a:r>
            <a:endParaRPr lang="en-US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15688B2-A537-158D-F9E2-9308AB78B938}"/>
              </a:ext>
            </a:extLst>
          </p:cNvPr>
          <p:cNvSpPr/>
          <p:nvPr/>
        </p:nvSpPr>
        <p:spPr>
          <a:xfrm>
            <a:off x="6845297" y="3080560"/>
            <a:ext cx="2096569" cy="52231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Excès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vs seuil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92FD1F7-F953-4BB1-E38D-E435D0858026}"/>
              </a:ext>
            </a:extLst>
          </p:cNvPr>
          <p:cNvSpPr txBox="1"/>
          <p:nvPr/>
        </p:nvSpPr>
        <p:spPr>
          <a:xfrm>
            <a:off x="8573703" y="4663440"/>
            <a:ext cx="368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373C56D-ADC2-9C6E-7B11-889EBADCB474}"/>
              </a:ext>
            </a:extLst>
          </p:cNvPr>
          <p:cNvSpPr/>
          <p:nvPr/>
        </p:nvSpPr>
        <p:spPr>
          <a:xfrm>
            <a:off x="0" y="-4713"/>
            <a:ext cx="9144000" cy="498646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138199-834A-A7BA-A114-4B97F3211343}"/>
              </a:ext>
            </a:extLst>
          </p:cNvPr>
          <p:cNvSpPr/>
          <p:nvPr/>
        </p:nvSpPr>
        <p:spPr>
          <a:xfrm>
            <a:off x="457200" y="11244"/>
            <a:ext cx="8503920" cy="4874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10 pays avec la plus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alimentaire</a:t>
            </a: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habitant</a:t>
            </a:r>
            <a:endParaRPr lang="en-US" sz="20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30F44DEF-D031-1E97-ECC7-020988CF76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163923"/>
              </p:ext>
            </p:extLst>
          </p:nvPr>
        </p:nvGraphicFramePr>
        <p:xfrm>
          <a:off x="457200" y="742114"/>
          <a:ext cx="5689600" cy="368808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Rang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Pays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kcal/jour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Déficit vs seuil</a:t>
                      </a:r>
                      <a:endParaRPr lang="en-US" sz="1600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Centrafrique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1,879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-25%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Zambie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1,924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-23%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Madagascar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2,056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-18%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Afghanistan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2,087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-17%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Haïti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2,089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Corée du Nord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2,093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Tchad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2,109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-16%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Zimbabwe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2,113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Ouganda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2,126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2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Timor-Leste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2,129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2C3E5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-15%</a:t>
                      </a:r>
                      <a:endParaRPr 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8F9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3">
            <a:extLst>
              <a:ext uri="{FF2B5EF4-FFF2-40B4-BE49-F238E27FC236}">
                <a16:creationId xmlns:a16="http://schemas.microsoft.com/office/drawing/2014/main" id="{766C6DDD-6A42-4F94-FF06-999F6611AB58}"/>
              </a:ext>
            </a:extLst>
          </p:cNvPr>
          <p:cNvSpPr/>
          <p:nvPr/>
        </p:nvSpPr>
        <p:spPr>
          <a:xfrm>
            <a:off x="6663053" y="2111218"/>
            <a:ext cx="2023745" cy="105351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A6E0132-2CC0-E6D8-159C-67915D01EEA3}"/>
              </a:ext>
            </a:extLst>
          </p:cNvPr>
          <p:cNvSpPr/>
          <p:nvPr/>
        </p:nvSpPr>
        <p:spPr>
          <a:xfrm>
            <a:off x="6663054" y="2094101"/>
            <a:ext cx="2023745" cy="4682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2,045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5CF1703-6D13-D197-3CF5-16BE89EC9AE1}"/>
              </a:ext>
            </a:extLst>
          </p:cNvPr>
          <p:cNvSpPr/>
          <p:nvPr/>
        </p:nvSpPr>
        <p:spPr>
          <a:xfrm>
            <a:off x="6719600" y="2612123"/>
            <a:ext cx="1910647" cy="3511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Moyenne kcal/jour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80659E1-4E1D-B7E5-52D5-27B5CED2A750}"/>
              </a:ext>
            </a:extLst>
          </p:cNvPr>
          <p:cNvSpPr/>
          <p:nvPr/>
        </p:nvSpPr>
        <p:spPr>
          <a:xfrm>
            <a:off x="6663055" y="3390499"/>
            <a:ext cx="2023745" cy="97337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fr-F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0D4AAF3-70A1-2701-4BA2-CB89FFA00E6F}"/>
              </a:ext>
            </a:extLst>
          </p:cNvPr>
          <p:cNvSpPr/>
          <p:nvPr/>
        </p:nvSpPr>
        <p:spPr>
          <a:xfrm>
            <a:off x="6663052" y="3355031"/>
            <a:ext cx="2023745" cy="46822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-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18.2</a:t>
            </a:r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%</a:t>
            </a:r>
            <a:endParaRPr lang="en-US" sz="1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FCD928E-878A-1CF2-4D15-963D2351EBEC}"/>
              </a:ext>
            </a:extLst>
          </p:cNvPr>
          <p:cNvSpPr/>
          <p:nvPr/>
        </p:nvSpPr>
        <p:spPr>
          <a:xfrm>
            <a:off x="6891651" y="3713138"/>
            <a:ext cx="1566546" cy="3511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Déficit vs seuil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4D11F0B-841C-FF62-66DE-54B302D514F7}"/>
              </a:ext>
            </a:extLst>
          </p:cNvPr>
          <p:cNvSpPr/>
          <p:nvPr/>
        </p:nvSpPr>
        <p:spPr>
          <a:xfrm>
            <a:off x="585216" y="4676119"/>
            <a:ext cx="7281164" cy="301543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3E8DA4E-19C8-4063-BD91-E617646C1033}"/>
              </a:ext>
            </a:extLst>
          </p:cNvPr>
          <p:cNvSpPr/>
          <p:nvPr/>
        </p:nvSpPr>
        <p:spPr>
          <a:xfrm rot="10800000" flipV="1">
            <a:off x="830264" y="4670127"/>
            <a:ext cx="6663052" cy="3015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Faible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disponibilité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n’est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pas </a:t>
            </a:r>
            <a:r>
              <a:rPr lang="en-US" sz="1600" b="1" dirty="0" err="1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égal</a:t>
            </a:r>
            <a:r>
              <a:rPr lang="en-US" sz="16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à sous nutrition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476CB8C-78F7-5903-FC80-97FCE6FFA0FE}"/>
              </a:ext>
            </a:extLst>
          </p:cNvPr>
          <p:cNvSpPr/>
          <p:nvPr/>
        </p:nvSpPr>
        <p:spPr>
          <a:xfrm>
            <a:off x="6663055" y="750253"/>
            <a:ext cx="2023745" cy="112103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77% </a:t>
            </a:r>
          </a:p>
          <a:p>
            <a:pPr algn="ctr"/>
            <a:r>
              <a:rPr lang="en-US" sz="1600" dirty="0" err="1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Ecart</a:t>
            </a:r>
            <a:r>
              <a:rPr lang="en-US" sz="16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avec pays riches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F39C4FD-CEE3-E7B9-4CFF-710ABB9BD569}"/>
              </a:ext>
            </a:extLst>
          </p:cNvPr>
          <p:cNvSpPr txBox="1"/>
          <p:nvPr/>
        </p:nvSpPr>
        <p:spPr>
          <a:xfrm>
            <a:off x="8573702" y="4663440"/>
            <a:ext cx="3874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F4F700-399E-CFF2-773F-080A055C10D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7CBDB67-0E8D-CFAB-AF46-7ABBB0EB92D9}"/>
              </a:ext>
            </a:extLst>
          </p:cNvPr>
          <p:cNvSpPr/>
          <p:nvPr/>
        </p:nvSpPr>
        <p:spPr>
          <a:xfrm>
            <a:off x="457200" y="14870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sur le manioc en Thaïlande</a:t>
            </a:r>
            <a:endParaRPr lang="en-US" sz="20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44595A3-FF24-0819-09F1-0C10C0A4920B}"/>
              </a:ext>
            </a:extLst>
          </p:cNvPr>
          <p:cNvSpPr/>
          <p:nvPr/>
        </p:nvSpPr>
        <p:spPr>
          <a:xfrm>
            <a:off x="643240" y="839048"/>
            <a:ext cx="2196790" cy="113405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DC888D-5459-14A1-C72B-D498422127E2}"/>
              </a:ext>
            </a:extLst>
          </p:cNvPr>
          <p:cNvSpPr/>
          <p:nvPr/>
        </p:nvSpPr>
        <p:spPr>
          <a:xfrm>
            <a:off x="365760" y="99058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b="1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8409606-C12D-FB28-9BE5-C7D8BC447BE5}"/>
              </a:ext>
            </a:extLst>
          </p:cNvPr>
          <p:cNvSpPr/>
          <p:nvPr/>
        </p:nvSpPr>
        <p:spPr>
          <a:xfrm>
            <a:off x="365760" y="13383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69.4M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A22BABA-42FB-CF9F-A4A2-5D01AF13CD6D}"/>
              </a:ext>
            </a:extLst>
          </p:cNvPr>
          <p:cNvSpPr/>
          <p:nvPr/>
        </p:nvSpPr>
        <p:spPr>
          <a:xfrm>
            <a:off x="3473604" y="839047"/>
            <a:ext cx="2196790" cy="113405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AAB54E9-4D62-BAE7-21A3-5B1503DE6CE8}"/>
              </a:ext>
            </a:extLst>
          </p:cNvPr>
          <p:cNvSpPr/>
          <p:nvPr/>
        </p:nvSpPr>
        <p:spPr>
          <a:xfrm>
            <a:off x="3200401" y="970117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Sous-nutrition</a:t>
            </a:r>
            <a:endParaRPr lang="en-US" b="1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AC69826-3ADC-3CCC-4A53-706233712593}"/>
              </a:ext>
            </a:extLst>
          </p:cNvPr>
          <p:cNvSpPr/>
          <p:nvPr/>
        </p:nvSpPr>
        <p:spPr>
          <a:xfrm>
            <a:off x="3200401" y="1329531"/>
            <a:ext cx="2743200" cy="4278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</a:t>
            </a:r>
          </a:p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6.2M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3FA1DC6-1848-1241-5BCD-056CC6E33B73}"/>
              </a:ext>
            </a:extLst>
          </p:cNvPr>
          <p:cNvSpPr/>
          <p:nvPr/>
        </p:nvSpPr>
        <p:spPr>
          <a:xfrm>
            <a:off x="3018635" y="164308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CDD64A8-17F1-AC32-BED0-BA3FC36FF8A3}"/>
              </a:ext>
            </a:extLst>
          </p:cNvPr>
          <p:cNvSpPr/>
          <p:nvPr/>
        </p:nvSpPr>
        <p:spPr>
          <a:xfrm>
            <a:off x="6303972" y="827195"/>
            <a:ext cx="2196790" cy="114481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4B29773-B879-9CBB-47FB-3D3136C09223}"/>
              </a:ext>
            </a:extLst>
          </p:cNvPr>
          <p:cNvSpPr/>
          <p:nvPr/>
        </p:nvSpPr>
        <p:spPr>
          <a:xfrm>
            <a:off x="6417715" y="1000879"/>
            <a:ext cx="1969303" cy="197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</a:t>
            </a:r>
            <a:endParaRPr lang="en-US" b="1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BD6AD8DC-CFAC-9D16-52DF-DA352D28597D}"/>
              </a:ext>
            </a:extLst>
          </p:cNvPr>
          <p:cNvSpPr/>
          <p:nvPr/>
        </p:nvSpPr>
        <p:spPr>
          <a:xfrm>
            <a:off x="6624477" y="1297375"/>
            <a:ext cx="1609742" cy="2498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2,785</a:t>
            </a:r>
            <a:endParaRPr lang="en-US" sz="24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940A39C-E93E-99A4-D239-8E9A2B7B4EC1}"/>
              </a:ext>
            </a:extLst>
          </p:cNvPr>
          <p:cNvSpPr/>
          <p:nvPr/>
        </p:nvSpPr>
        <p:spPr>
          <a:xfrm>
            <a:off x="6485738" y="1662696"/>
            <a:ext cx="1830565" cy="121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kcal/jour</a:t>
            </a:r>
            <a:endParaRPr lang="en-US" sz="14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F2720E4-E995-B540-692F-06AFEDCCF52A}"/>
              </a:ext>
            </a:extLst>
          </p:cNvPr>
          <p:cNvSpPr/>
          <p:nvPr/>
        </p:nvSpPr>
        <p:spPr>
          <a:xfrm>
            <a:off x="457200" y="4597933"/>
            <a:ext cx="8229600" cy="349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PARADOXE : 83% exporté alors que 9% de la population est sous-alimentée</a:t>
            </a:r>
            <a:endParaRPr lang="en-US" sz="1400" dirty="0"/>
          </a:p>
        </p:txBody>
      </p:sp>
      <p:graphicFrame>
        <p:nvGraphicFramePr>
          <p:cNvPr id="25" name="Graphique 24">
            <a:extLst>
              <a:ext uri="{FF2B5EF4-FFF2-40B4-BE49-F238E27FC236}">
                <a16:creationId xmlns:a16="http://schemas.microsoft.com/office/drawing/2014/main" id="{42C46E25-B6FF-E2F6-E946-09B167E2E9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242308"/>
              </p:ext>
            </p:extLst>
          </p:nvPr>
        </p:nvGraphicFramePr>
        <p:xfrm>
          <a:off x="1360820" y="1954386"/>
          <a:ext cx="6422359" cy="2965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ECF463EF-E488-496B-62C1-B0061641CC4A}"/>
              </a:ext>
            </a:extLst>
          </p:cNvPr>
          <p:cNvSpPr txBox="1"/>
          <p:nvPr/>
        </p:nvSpPr>
        <p:spPr>
          <a:xfrm>
            <a:off x="8573702" y="4663440"/>
            <a:ext cx="3296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63AE-4502-F850-2530-D8A7D762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98CFB5-4AC3-CAD5-3738-B91F62553DEF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1132"/>
          </a:solidFill>
          <a:ln/>
        </p:spPr>
        <p:txBody>
          <a:bodyPr/>
          <a:lstStyle/>
          <a:p>
            <a:endParaRPr lang="fr-FR" sz="160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64ABF1B-4438-84FF-7B19-F408E913FD32}"/>
              </a:ext>
            </a:extLst>
          </p:cNvPr>
          <p:cNvSpPr/>
          <p:nvPr/>
        </p:nvSpPr>
        <p:spPr>
          <a:xfrm>
            <a:off x="457200" y="14870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sur le manioc en Thaïlande</a:t>
            </a:r>
            <a:endParaRPr lang="en-US" sz="200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500A88B4-23D3-7079-1540-DF3E10ECC777}"/>
              </a:ext>
            </a:extLst>
          </p:cNvPr>
          <p:cNvSpPr/>
          <p:nvPr/>
        </p:nvSpPr>
        <p:spPr>
          <a:xfrm>
            <a:off x="850900" y="4597933"/>
            <a:ext cx="7442200" cy="365210"/>
          </a:xfrm>
          <a:prstGeom prst="rect">
            <a:avLst/>
          </a:prstGeom>
          <a:solidFill>
            <a:srgbClr val="FF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12C890F5-AB37-D6A9-91BB-CD4495058CE3}"/>
              </a:ext>
            </a:extLst>
          </p:cNvPr>
          <p:cNvSpPr/>
          <p:nvPr/>
        </p:nvSpPr>
        <p:spPr>
          <a:xfrm>
            <a:off x="365760" y="4597933"/>
            <a:ext cx="8229600" cy="349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exporté alors que 9% de la population est sous-alimentée</a:t>
            </a:r>
            <a:endParaRPr lang="en-US" sz="1600" dirty="0"/>
          </a:p>
        </p:txBody>
      </p:sp>
      <p:graphicFrame>
        <p:nvGraphicFramePr>
          <p:cNvPr id="28" name="Graphique 27">
            <a:extLst>
              <a:ext uri="{FF2B5EF4-FFF2-40B4-BE49-F238E27FC236}">
                <a16:creationId xmlns:a16="http://schemas.microsoft.com/office/drawing/2014/main" id="{D3D48D29-6520-D81E-B882-C10900D1D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28262546"/>
              </p:ext>
            </p:extLst>
          </p:nvPr>
        </p:nvGraphicFramePr>
        <p:xfrm>
          <a:off x="457201" y="763400"/>
          <a:ext cx="6867624" cy="37089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ZoneTexte 1">
            <a:extLst>
              <a:ext uri="{FF2B5EF4-FFF2-40B4-BE49-F238E27FC236}">
                <a16:creationId xmlns:a16="http://schemas.microsoft.com/office/drawing/2014/main" id="{CF040E94-EBF6-E72F-9FAB-0E12767ECD3A}"/>
              </a:ext>
            </a:extLst>
          </p:cNvPr>
          <p:cNvSpPr txBox="1"/>
          <p:nvPr/>
        </p:nvSpPr>
        <p:spPr>
          <a:xfrm>
            <a:off x="6160168" y="1375545"/>
            <a:ext cx="2526632" cy="24846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1400" b="1" dirty="0">
                <a:solidFill>
                  <a:srgbClr val="0011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33 % </a:t>
            </a:r>
            <a:r>
              <a:rPr lang="fr-FR" sz="1400" b="1" dirty="0">
                <a:latin typeface="Arial" panose="020B0604020202020204" pitchFamily="34" charset="0"/>
                <a:cs typeface="Arial" panose="020B0604020202020204" pitchFamily="34" charset="0"/>
              </a:rPr>
              <a:t>: Tapioca et Amidon</a:t>
            </a:r>
          </a:p>
          <a:p>
            <a:endParaRPr lang="fr-F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u="sng" dirty="0">
                <a:latin typeface="Arial" panose="020B0604020202020204" pitchFamily="34" charset="0"/>
                <a:cs typeface="Arial" panose="020B0604020202020204" pitchFamily="34" charset="0"/>
              </a:rPr>
              <a:t>Textile et Papeterie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: L'amidon agent liant et d'encollage.</a:t>
            </a:r>
          </a:p>
          <a:p>
            <a:endParaRPr lang="fr-F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u="sng" dirty="0">
                <a:latin typeface="Arial" panose="020B0604020202020204" pitchFamily="34" charset="0"/>
                <a:cs typeface="Arial" panose="020B0604020202020204" pitchFamily="34" charset="0"/>
              </a:rPr>
              <a:t>Pharmacie et Cosmétique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: Pour gélules ou poudres.</a:t>
            </a:r>
          </a:p>
          <a:p>
            <a:endParaRPr lang="fr-FR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u="sng" dirty="0">
                <a:latin typeface="Arial" panose="020B0604020202020204" pitchFamily="34" charset="0"/>
                <a:cs typeface="Arial" panose="020B0604020202020204" pitchFamily="34" charset="0"/>
              </a:rPr>
              <a:t>Colles et Adhésifs</a:t>
            </a:r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r>
              <a:rPr lang="fr-FR" sz="1400" dirty="0">
                <a:latin typeface="Arial" panose="020B0604020202020204" pitchFamily="34" charset="0"/>
                <a:cs typeface="Arial" panose="020B0604020202020204" pitchFamily="34" charset="0"/>
              </a:rPr>
              <a:t>Pour cartons et emballages.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72C46A-04E0-04C2-8737-EFC3BD8E0E30}"/>
              </a:ext>
            </a:extLst>
          </p:cNvPr>
          <p:cNvSpPr txBox="1"/>
          <p:nvPr/>
        </p:nvSpPr>
        <p:spPr>
          <a:xfrm>
            <a:off x="8573702" y="4663440"/>
            <a:ext cx="406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3227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11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3056549"/>
            <a:ext cx="9144000" cy="208695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CONCLUSION</a:t>
            </a:r>
          </a:p>
        </p:txBody>
      </p:sp>
      <p:sp>
        <p:nvSpPr>
          <p:cNvPr id="5" name="Text 3"/>
          <p:cNvSpPr/>
          <p:nvPr/>
        </p:nvSpPr>
        <p:spPr>
          <a:xfrm>
            <a:off x="323385" y="351374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r>
              <a:rPr lang="en-US" sz="2200" dirty="0" err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faim</a:t>
            </a:r>
            <a:r>
              <a:rPr lang="en-US" sz="2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200" dirty="0" err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n'est</a:t>
            </a:r>
            <a:r>
              <a:rPr lang="en-US" sz="22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390571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problème de PRODUCTION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41867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DISTRIBUTION et d'ACCÈS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514600" y="126259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971800" y="1262599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111% des besoins mondiaux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14600" y="162835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1628359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536M de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personnes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sous-nutrition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199411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71800" y="1994119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50% pour alimentation humaine directe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35987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71800" y="2359879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de pertes = 150M de personnes</a:t>
            </a:r>
            <a:endParaRPr lang="en-US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EBD73E-9A77-1ACD-A7FD-2D755A037224}"/>
              </a:ext>
            </a:extLst>
          </p:cNvPr>
          <p:cNvSpPr txBox="1"/>
          <p:nvPr/>
        </p:nvSpPr>
        <p:spPr>
          <a:xfrm>
            <a:off x="8573702" y="4591550"/>
            <a:ext cx="570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11745</TotalTime>
  <Words>773</Words>
  <Application>Microsoft Office PowerPoint</Application>
  <PresentationFormat>Affichage à l'écran (16:9)</PresentationFormat>
  <Paragraphs>298</Paragraphs>
  <Slides>16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Century Gothic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xavier ELICES-DIEZ</cp:lastModifiedBy>
  <cp:revision>30</cp:revision>
  <dcterms:created xsi:type="dcterms:W3CDTF">2025-11-25T10:46:28Z</dcterms:created>
  <dcterms:modified xsi:type="dcterms:W3CDTF">2025-12-04T18:45:01Z</dcterms:modified>
</cp:coreProperties>
</file>